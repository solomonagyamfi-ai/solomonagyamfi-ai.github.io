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63" r:id="rId3"/>
    <p:sldId id="258" r:id="rId4"/>
    <p:sldId id="264" r:id="rId5"/>
    <p:sldId id="265" r:id="rId6"/>
    <p:sldId id="266" r:id="rId7"/>
    <p:sldId id="267" r:id="rId8"/>
    <p:sldId id="268"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95666"/>
    <a:srgbClr val="E1A91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773" autoAdjust="0"/>
  </p:normalViewPr>
  <p:slideViewPr>
    <p:cSldViewPr snapToGrid="0">
      <p:cViewPr varScale="1">
        <p:scale>
          <a:sx n="79" d="100"/>
          <a:sy n="79" d="100"/>
        </p:scale>
        <p:origin x="773"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F95256-41B2-49CE-B0AF-FD027AAE6564}" type="datetimeFigureOut">
              <a:rPr lang="en-US" smtClean="0"/>
              <a:t>28-Aug-26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65A9CE-1FE7-4C76-B978-F53BCF772E98}" type="slidenum">
              <a:rPr lang="en-US" smtClean="0"/>
              <a:t>‹#›</a:t>
            </a:fld>
            <a:endParaRPr lang="en-US"/>
          </a:p>
        </p:txBody>
      </p:sp>
    </p:spTree>
    <p:extLst>
      <p:ext uri="{BB962C8B-B14F-4D97-AF65-F5344CB8AC3E}">
        <p14:creationId xmlns:p14="http://schemas.microsoft.com/office/powerpoint/2010/main" val="28665180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665A9CE-1FE7-4C76-B978-F53BCF772E98}" type="slidenum">
              <a:rPr lang="en-US" smtClean="0"/>
              <a:t>1</a:t>
            </a:fld>
            <a:endParaRPr lang="en-US"/>
          </a:p>
        </p:txBody>
      </p:sp>
    </p:spTree>
    <p:extLst>
      <p:ext uri="{BB962C8B-B14F-4D97-AF65-F5344CB8AC3E}">
        <p14:creationId xmlns:p14="http://schemas.microsoft.com/office/powerpoint/2010/main" val="31783917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3A32B76-A7E4-43F7-AF55-408FD2ED4A79}" type="slidenum">
              <a:rPr lang="en-US" smtClean="0"/>
              <a:t>2</a:t>
            </a:fld>
            <a:endParaRPr lang="en-US"/>
          </a:p>
        </p:txBody>
      </p:sp>
    </p:spTree>
    <p:extLst>
      <p:ext uri="{BB962C8B-B14F-4D97-AF65-F5344CB8AC3E}">
        <p14:creationId xmlns:p14="http://schemas.microsoft.com/office/powerpoint/2010/main" val="26709309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increase bookings during this period, Ghana Adventures should run targeted digital promotions, offer early-booking and midweek discounts, create family and group packages, and bundle tours with transport, meals, accommodation, or photography services.</a:t>
            </a:r>
          </a:p>
        </p:txBody>
      </p:sp>
      <p:sp>
        <p:nvSpPr>
          <p:cNvPr id="4" name="Slide Number Placeholder 3"/>
          <p:cNvSpPr>
            <a:spLocks noGrp="1"/>
          </p:cNvSpPr>
          <p:nvPr>
            <p:ph type="sldNum" sz="quarter" idx="5"/>
          </p:nvPr>
        </p:nvSpPr>
        <p:spPr/>
        <p:txBody>
          <a:bodyPr/>
          <a:lstStyle/>
          <a:p>
            <a:fld id="{A665A9CE-1FE7-4C76-B978-F53BCF772E98}" type="slidenum">
              <a:rPr lang="en-US" smtClean="0"/>
              <a:t>4</a:t>
            </a:fld>
            <a:endParaRPr lang="en-US"/>
          </a:p>
        </p:txBody>
      </p:sp>
    </p:spTree>
    <p:extLst>
      <p:ext uri="{BB962C8B-B14F-4D97-AF65-F5344CB8AC3E}">
        <p14:creationId xmlns:p14="http://schemas.microsoft.com/office/powerpoint/2010/main" val="19342841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FD29C-90D0-A31B-13C8-C642DE4150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1B0073-CDB3-7F3B-9168-E2A370EFCD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EAFE14-2EF8-E3E5-E05D-8E77DF4F2870}"/>
              </a:ext>
            </a:extLst>
          </p:cNvPr>
          <p:cNvSpPr>
            <a:spLocks noGrp="1"/>
          </p:cNvSpPr>
          <p:nvPr>
            <p:ph type="body" idx="1"/>
          </p:nvPr>
        </p:nvSpPr>
        <p:spPr/>
        <p:txBody>
          <a:bodyPr/>
          <a:lstStyle/>
          <a:p>
            <a:r>
              <a:rPr lang="en-US" dirty="0"/>
              <a:t>o increase bookings during this period, Ghana Adventures should run targeted digital promotions, offer early-booking and midweek discounts, create family and group packages, and bundle tours with transport, meals, accommodation, or photography services.</a:t>
            </a:r>
          </a:p>
        </p:txBody>
      </p:sp>
      <p:sp>
        <p:nvSpPr>
          <p:cNvPr id="4" name="Slide Number Placeholder 3">
            <a:extLst>
              <a:ext uri="{FF2B5EF4-FFF2-40B4-BE49-F238E27FC236}">
                <a16:creationId xmlns:a16="http://schemas.microsoft.com/office/drawing/2014/main" id="{45569DDA-2FBC-B400-D664-F40F779E8658}"/>
              </a:ext>
            </a:extLst>
          </p:cNvPr>
          <p:cNvSpPr>
            <a:spLocks noGrp="1"/>
          </p:cNvSpPr>
          <p:nvPr>
            <p:ph type="sldNum" sz="quarter" idx="5"/>
          </p:nvPr>
        </p:nvSpPr>
        <p:spPr/>
        <p:txBody>
          <a:bodyPr/>
          <a:lstStyle/>
          <a:p>
            <a:fld id="{A665A9CE-1FE7-4C76-B978-F53BCF772E98}" type="slidenum">
              <a:rPr lang="en-US" smtClean="0"/>
              <a:t>5</a:t>
            </a:fld>
            <a:endParaRPr lang="en-US"/>
          </a:p>
        </p:txBody>
      </p:sp>
    </p:spTree>
    <p:extLst>
      <p:ext uri="{BB962C8B-B14F-4D97-AF65-F5344CB8AC3E}">
        <p14:creationId xmlns:p14="http://schemas.microsoft.com/office/powerpoint/2010/main" val="1147735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11CFA-EF3E-AF07-122D-A357315AC3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A6F066-A31F-FFEF-13D6-740351D46C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FB18BB-CC97-05F4-26B5-7F5F3CA2C04C}"/>
              </a:ext>
            </a:extLst>
          </p:cNvPr>
          <p:cNvSpPr>
            <a:spLocks noGrp="1"/>
          </p:cNvSpPr>
          <p:nvPr>
            <p:ph type="body" idx="1"/>
          </p:nvPr>
        </p:nvSpPr>
        <p:spPr/>
        <p:txBody>
          <a:bodyPr/>
          <a:lstStyle/>
          <a:p>
            <a:r>
              <a:rPr lang="en-US" dirty="0"/>
              <a:t>o increase bookings during this period, Ghana Adventures should run targeted digital promotions, offer early-booking and midweek discounts, create family and group packages, and bundle tours with transport, meals, accommodation, or photography services.</a:t>
            </a:r>
          </a:p>
        </p:txBody>
      </p:sp>
      <p:sp>
        <p:nvSpPr>
          <p:cNvPr id="4" name="Slide Number Placeholder 3">
            <a:extLst>
              <a:ext uri="{FF2B5EF4-FFF2-40B4-BE49-F238E27FC236}">
                <a16:creationId xmlns:a16="http://schemas.microsoft.com/office/drawing/2014/main" id="{6B23EF81-1A8A-8081-1127-E45546FD49D9}"/>
              </a:ext>
            </a:extLst>
          </p:cNvPr>
          <p:cNvSpPr>
            <a:spLocks noGrp="1"/>
          </p:cNvSpPr>
          <p:nvPr>
            <p:ph type="sldNum" sz="quarter" idx="5"/>
          </p:nvPr>
        </p:nvSpPr>
        <p:spPr/>
        <p:txBody>
          <a:bodyPr/>
          <a:lstStyle/>
          <a:p>
            <a:fld id="{A665A9CE-1FE7-4C76-B978-F53BCF772E98}" type="slidenum">
              <a:rPr lang="en-US" smtClean="0"/>
              <a:t>6</a:t>
            </a:fld>
            <a:endParaRPr lang="en-US"/>
          </a:p>
        </p:txBody>
      </p:sp>
    </p:spTree>
    <p:extLst>
      <p:ext uri="{BB962C8B-B14F-4D97-AF65-F5344CB8AC3E}">
        <p14:creationId xmlns:p14="http://schemas.microsoft.com/office/powerpoint/2010/main" val="13955705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0FA45-D87F-AEF4-699E-9191FA0949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EA8E98-CEEF-E5ED-D78A-5CC3EDDD8F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AC2E74-47E0-21C4-8552-BCCBCBCC8F1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54173C-D5DE-25A2-9C28-AED54D1939D4}"/>
              </a:ext>
            </a:extLst>
          </p:cNvPr>
          <p:cNvSpPr>
            <a:spLocks noGrp="1"/>
          </p:cNvSpPr>
          <p:nvPr>
            <p:ph type="sldNum" sz="quarter" idx="5"/>
          </p:nvPr>
        </p:nvSpPr>
        <p:spPr/>
        <p:txBody>
          <a:bodyPr/>
          <a:lstStyle/>
          <a:p>
            <a:fld id="{A665A9CE-1FE7-4C76-B978-F53BCF772E98}" type="slidenum">
              <a:rPr lang="en-US" smtClean="0"/>
              <a:t>8</a:t>
            </a:fld>
            <a:endParaRPr lang="en-US"/>
          </a:p>
        </p:txBody>
      </p:sp>
    </p:spTree>
    <p:extLst>
      <p:ext uri="{BB962C8B-B14F-4D97-AF65-F5344CB8AC3E}">
        <p14:creationId xmlns:p14="http://schemas.microsoft.com/office/powerpoint/2010/main" val="38272675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6838DE-1EFA-E5EB-F342-66B26D7CF0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66F7E47-AA75-888E-5A67-440C3340109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6D45EB9-0164-AC8A-34D7-4751493BB1C1}"/>
              </a:ext>
            </a:extLst>
          </p:cNvPr>
          <p:cNvSpPr>
            <a:spLocks noGrp="1"/>
          </p:cNvSpPr>
          <p:nvPr>
            <p:ph type="dt" sz="half" idx="10"/>
          </p:nvPr>
        </p:nvSpPr>
        <p:spPr/>
        <p:txBody>
          <a:bodyPr/>
          <a:lstStyle/>
          <a:p>
            <a:fld id="{056F0B4A-DA1D-49B7-841A-6057E317F7A7}" type="datetimeFigureOut">
              <a:rPr lang="en-US" smtClean="0"/>
              <a:t>28-Aug-26</a:t>
            </a:fld>
            <a:endParaRPr lang="en-US"/>
          </a:p>
        </p:txBody>
      </p:sp>
      <p:sp>
        <p:nvSpPr>
          <p:cNvPr id="5" name="Footer Placeholder 4">
            <a:extLst>
              <a:ext uri="{FF2B5EF4-FFF2-40B4-BE49-F238E27FC236}">
                <a16:creationId xmlns:a16="http://schemas.microsoft.com/office/drawing/2014/main" id="{09F9D8E9-A6BA-3D7F-C787-E4C093EBAF9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889D80-3280-90E4-F5CE-32FF344A722F}"/>
              </a:ext>
            </a:extLst>
          </p:cNvPr>
          <p:cNvSpPr>
            <a:spLocks noGrp="1"/>
          </p:cNvSpPr>
          <p:nvPr>
            <p:ph type="sldNum" sz="quarter" idx="12"/>
          </p:nvPr>
        </p:nvSpPr>
        <p:spPr/>
        <p:txBody>
          <a:bodyPr/>
          <a:lstStyle/>
          <a:p>
            <a:fld id="{C1A5BCA9-BE13-4474-B180-54EA452BBFBA}" type="slidenum">
              <a:rPr lang="en-US" smtClean="0"/>
              <a:t>‹#›</a:t>
            </a:fld>
            <a:endParaRPr lang="en-US"/>
          </a:p>
        </p:txBody>
      </p:sp>
    </p:spTree>
    <p:extLst>
      <p:ext uri="{BB962C8B-B14F-4D97-AF65-F5344CB8AC3E}">
        <p14:creationId xmlns:p14="http://schemas.microsoft.com/office/powerpoint/2010/main" val="39857739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3BF75-AF10-228F-C605-1018733AE4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2FCCF06-CD61-2993-1953-1C87BF6012B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D4C1161-59BB-CE18-5DC8-DCDAF18B1125}"/>
              </a:ext>
            </a:extLst>
          </p:cNvPr>
          <p:cNvSpPr>
            <a:spLocks noGrp="1"/>
          </p:cNvSpPr>
          <p:nvPr>
            <p:ph type="dt" sz="half" idx="10"/>
          </p:nvPr>
        </p:nvSpPr>
        <p:spPr/>
        <p:txBody>
          <a:bodyPr/>
          <a:lstStyle/>
          <a:p>
            <a:fld id="{056F0B4A-DA1D-49B7-841A-6057E317F7A7}" type="datetimeFigureOut">
              <a:rPr lang="en-US" smtClean="0"/>
              <a:t>28-Aug-26</a:t>
            </a:fld>
            <a:endParaRPr lang="en-US"/>
          </a:p>
        </p:txBody>
      </p:sp>
      <p:sp>
        <p:nvSpPr>
          <p:cNvPr id="5" name="Footer Placeholder 4">
            <a:extLst>
              <a:ext uri="{FF2B5EF4-FFF2-40B4-BE49-F238E27FC236}">
                <a16:creationId xmlns:a16="http://schemas.microsoft.com/office/drawing/2014/main" id="{D76379AE-FA07-21FA-9056-9DFF54D261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D6A01-225F-F509-5971-5E3F853160C2}"/>
              </a:ext>
            </a:extLst>
          </p:cNvPr>
          <p:cNvSpPr>
            <a:spLocks noGrp="1"/>
          </p:cNvSpPr>
          <p:nvPr>
            <p:ph type="sldNum" sz="quarter" idx="12"/>
          </p:nvPr>
        </p:nvSpPr>
        <p:spPr/>
        <p:txBody>
          <a:bodyPr/>
          <a:lstStyle/>
          <a:p>
            <a:fld id="{C1A5BCA9-BE13-4474-B180-54EA452BBFBA}" type="slidenum">
              <a:rPr lang="en-US" smtClean="0"/>
              <a:t>‹#›</a:t>
            </a:fld>
            <a:endParaRPr lang="en-US"/>
          </a:p>
        </p:txBody>
      </p:sp>
    </p:spTree>
    <p:extLst>
      <p:ext uri="{BB962C8B-B14F-4D97-AF65-F5344CB8AC3E}">
        <p14:creationId xmlns:p14="http://schemas.microsoft.com/office/powerpoint/2010/main" val="18368786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D7AB1-FB31-0CA7-853A-AE1526B2000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40C27CE-84F2-DA18-9146-829CEE31984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9AFF5F9-643F-AAFD-242B-1750A1D5149D}"/>
              </a:ext>
            </a:extLst>
          </p:cNvPr>
          <p:cNvSpPr>
            <a:spLocks noGrp="1"/>
          </p:cNvSpPr>
          <p:nvPr>
            <p:ph type="dt" sz="half" idx="10"/>
          </p:nvPr>
        </p:nvSpPr>
        <p:spPr/>
        <p:txBody>
          <a:bodyPr/>
          <a:lstStyle/>
          <a:p>
            <a:fld id="{056F0B4A-DA1D-49B7-841A-6057E317F7A7}" type="datetimeFigureOut">
              <a:rPr lang="en-US" smtClean="0"/>
              <a:t>28-Aug-26</a:t>
            </a:fld>
            <a:endParaRPr lang="en-US"/>
          </a:p>
        </p:txBody>
      </p:sp>
      <p:sp>
        <p:nvSpPr>
          <p:cNvPr id="5" name="Footer Placeholder 4">
            <a:extLst>
              <a:ext uri="{FF2B5EF4-FFF2-40B4-BE49-F238E27FC236}">
                <a16:creationId xmlns:a16="http://schemas.microsoft.com/office/drawing/2014/main" id="{F28AE654-765D-61D7-5115-E97B8A2AC60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CA87BCF-9F51-8CF8-A421-6C3BA19D79A0}"/>
              </a:ext>
            </a:extLst>
          </p:cNvPr>
          <p:cNvSpPr>
            <a:spLocks noGrp="1"/>
          </p:cNvSpPr>
          <p:nvPr>
            <p:ph type="sldNum" sz="quarter" idx="12"/>
          </p:nvPr>
        </p:nvSpPr>
        <p:spPr/>
        <p:txBody>
          <a:bodyPr/>
          <a:lstStyle/>
          <a:p>
            <a:fld id="{C1A5BCA9-BE13-4474-B180-54EA452BBFBA}" type="slidenum">
              <a:rPr lang="en-US" smtClean="0"/>
              <a:t>‹#›</a:t>
            </a:fld>
            <a:endParaRPr lang="en-US"/>
          </a:p>
        </p:txBody>
      </p:sp>
    </p:spTree>
    <p:extLst>
      <p:ext uri="{BB962C8B-B14F-4D97-AF65-F5344CB8AC3E}">
        <p14:creationId xmlns:p14="http://schemas.microsoft.com/office/powerpoint/2010/main" val="41062370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86773A-E442-62A7-4450-A5EDD2E138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D7DE536-E6E2-823A-5C1E-D430DBD01B9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EF79208-1EFA-9FD9-B6EE-02044B33945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DCC13C6-33FA-F0DA-508A-687A9A105C86}"/>
              </a:ext>
            </a:extLst>
          </p:cNvPr>
          <p:cNvSpPr>
            <a:spLocks noGrp="1"/>
          </p:cNvSpPr>
          <p:nvPr>
            <p:ph type="dt" sz="half" idx="10"/>
          </p:nvPr>
        </p:nvSpPr>
        <p:spPr/>
        <p:txBody>
          <a:bodyPr/>
          <a:lstStyle/>
          <a:p>
            <a:fld id="{056F0B4A-DA1D-49B7-841A-6057E317F7A7}" type="datetimeFigureOut">
              <a:rPr lang="en-US" smtClean="0"/>
              <a:t>28-Aug-26</a:t>
            </a:fld>
            <a:endParaRPr lang="en-US"/>
          </a:p>
        </p:txBody>
      </p:sp>
      <p:sp>
        <p:nvSpPr>
          <p:cNvPr id="6" name="Footer Placeholder 5">
            <a:extLst>
              <a:ext uri="{FF2B5EF4-FFF2-40B4-BE49-F238E27FC236}">
                <a16:creationId xmlns:a16="http://schemas.microsoft.com/office/drawing/2014/main" id="{692C2930-16E4-814B-91E2-43A2EE4CF58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1885631-24B5-85AA-E79F-D06E9001BBF8}"/>
              </a:ext>
            </a:extLst>
          </p:cNvPr>
          <p:cNvSpPr>
            <a:spLocks noGrp="1"/>
          </p:cNvSpPr>
          <p:nvPr>
            <p:ph type="sldNum" sz="quarter" idx="12"/>
          </p:nvPr>
        </p:nvSpPr>
        <p:spPr/>
        <p:txBody>
          <a:bodyPr/>
          <a:lstStyle/>
          <a:p>
            <a:fld id="{C1A5BCA9-BE13-4474-B180-54EA452BBFBA}" type="slidenum">
              <a:rPr lang="en-US" smtClean="0"/>
              <a:t>‹#›</a:t>
            </a:fld>
            <a:endParaRPr lang="en-US"/>
          </a:p>
        </p:txBody>
      </p:sp>
    </p:spTree>
    <p:extLst>
      <p:ext uri="{BB962C8B-B14F-4D97-AF65-F5344CB8AC3E}">
        <p14:creationId xmlns:p14="http://schemas.microsoft.com/office/powerpoint/2010/main" val="1898874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9493F8-5595-D337-280B-C62B2F80F6E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EF8F7D3-E5CE-FF57-2F9B-8E08D2262EB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D60179E-F6A6-163C-EB29-0B4141A3368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2E3A7F2-F3CA-E19B-42D0-9F18471019B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BEC3DE6-D54A-5457-21F5-FA51DD92C62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8FBBFB-AAA9-E1E4-9CF3-DB3A5205ECE5}"/>
              </a:ext>
            </a:extLst>
          </p:cNvPr>
          <p:cNvSpPr>
            <a:spLocks noGrp="1"/>
          </p:cNvSpPr>
          <p:nvPr>
            <p:ph type="dt" sz="half" idx="10"/>
          </p:nvPr>
        </p:nvSpPr>
        <p:spPr/>
        <p:txBody>
          <a:bodyPr/>
          <a:lstStyle/>
          <a:p>
            <a:fld id="{056F0B4A-DA1D-49B7-841A-6057E317F7A7}" type="datetimeFigureOut">
              <a:rPr lang="en-US" smtClean="0"/>
              <a:t>28-Aug-26</a:t>
            </a:fld>
            <a:endParaRPr lang="en-US"/>
          </a:p>
        </p:txBody>
      </p:sp>
      <p:sp>
        <p:nvSpPr>
          <p:cNvPr id="8" name="Footer Placeholder 7">
            <a:extLst>
              <a:ext uri="{FF2B5EF4-FFF2-40B4-BE49-F238E27FC236}">
                <a16:creationId xmlns:a16="http://schemas.microsoft.com/office/drawing/2014/main" id="{C77A9BE1-D3EF-F017-488E-A3C01BABD77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9B401C1-4CD4-4E41-2051-86FE58B2459B}"/>
              </a:ext>
            </a:extLst>
          </p:cNvPr>
          <p:cNvSpPr>
            <a:spLocks noGrp="1"/>
          </p:cNvSpPr>
          <p:nvPr>
            <p:ph type="sldNum" sz="quarter" idx="12"/>
          </p:nvPr>
        </p:nvSpPr>
        <p:spPr/>
        <p:txBody>
          <a:bodyPr/>
          <a:lstStyle/>
          <a:p>
            <a:fld id="{C1A5BCA9-BE13-4474-B180-54EA452BBFBA}" type="slidenum">
              <a:rPr lang="en-US" smtClean="0"/>
              <a:t>‹#›</a:t>
            </a:fld>
            <a:endParaRPr lang="en-US"/>
          </a:p>
        </p:txBody>
      </p:sp>
    </p:spTree>
    <p:extLst>
      <p:ext uri="{BB962C8B-B14F-4D97-AF65-F5344CB8AC3E}">
        <p14:creationId xmlns:p14="http://schemas.microsoft.com/office/powerpoint/2010/main" val="24443382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547D16-9ECD-41A1-428F-12ED240A9D6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950F71E-7902-AD50-A0F5-95CD3148B7F4}"/>
              </a:ext>
            </a:extLst>
          </p:cNvPr>
          <p:cNvSpPr>
            <a:spLocks noGrp="1"/>
          </p:cNvSpPr>
          <p:nvPr>
            <p:ph type="dt" sz="half" idx="10"/>
          </p:nvPr>
        </p:nvSpPr>
        <p:spPr/>
        <p:txBody>
          <a:bodyPr/>
          <a:lstStyle/>
          <a:p>
            <a:fld id="{056F0B4A-DA1D-49B7-841A-6057E317F7A7}" type="datetimeFigureOut">
              <a:rPr lang="en-US" smtClean="0"/>
              <a:t>28-Aug-26</a:t>
            </a:fld>
            <a:endParaRPr lang="en-US"/>
          </a:p>
        </p:txBody>
      </p:sp>
      <p:sp>
        <p:nvSpPr>
          <p:cNvPr id="4" name="Footer Placeholder 3">
            <a:extLst>
              <a:ext uri="{FF2B5EF4-FFF2-40B4-BE49-F238E27FC236}">
                <a16:creationId xmlns:a16="http://schemas.microsoft.com/office/drawing/2014/main" id="{90ED07C7-684E-532C-9B49-6CE0E682AAD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9C3E222-9AC1-EAD4-221A-36656AF70FFA}"/>
              </a:ext>
            </a:extLst>
          </p:cNvPr>
          <p:cNvSpPr>
            <a:spLocks noGrp="1"/>
          </p:cNvSpPr>
          <p:nvPr>
            <p:ph type="sldNum" sz="quarter" idx="12"/>
          </p:nvPr>
        </p:nvSpPr>
        <p:spPr/>
        <p:txBody>
          <a:bodyPr/>
          <a:lstStyle/>
          <a:p>
            <a:fld id="{C1A5BCA9-BE13-4474-B180-54EA452BBFBA}" type="slidenum">
              <a:rPr lang="en-US" smtClean="0"/>
              <a:t>‹#›</a:t>
            </a:fld>
            <a:endParaRPr lang="en-US"/>
          </a:p>
        </p:txBody>
      </p:sp>
    </p:spTree>
    <p:extLst>
      <p:ext uri="{BB962C8B-B14F-4D97-AF65-F5344CB8AC3E}">
        <p14:creationId xmlns:p14="http://schemas.microsoft.com/office/powerpoint/2010/main" val="21159398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26020F-C0F0-89F8-CFE5-7B03F1968B81}"/>
              </a:ext>
            </a:extLst>
          </p:cNvPr>
          <p:cNvSpPr>
            <a:spLocks noGrp="1"/>
          </p:cNvSpPr>
          <p:nvPr>
            <p:ph type="dt" sz="half" idx="10"/>
          </p:nvPr>
        </p:nvSpPr>
        <p:spPr/>
        <p:txBody>
          <a:bodyPr/>
          <a:lstStyle/>
          <a:p>
            <a:fld id="{056F0B4A-DA1D-49B7-841A-6057E317F7A7}" type="datetimeFigureOut">
              <a:rPr lang="en-US" smtClean="0"/>
              <a:t>28-Aug-26</a:t>
            </a:fld>
            <a:endParaRPr lang="en-US"/>
          </a:p>
        </p:txBody>
      </p:sp>
      <p:sp>
        <p:nvSpPr>
          <p:cNvPr id="3" name="Footer Placeholder 2">
            <a:extLst>
              <a:ext uri="{FF2B5EF4-FFF2-40B4-BE49-F238E27FC236}">
                <a16:creationId xmlns:a16="http://schemas.microsoft.com/office/drawing/2014/main" id="{A682F86B-BD2E-D8CA-33BE-4D63BF2BF43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66FBABF-669A-A6CC-BF7B-13E7FDDD1DF0}"/>
              </a:ext>
            </a:extLst>
          </p:cNvPr>
          <p:cNvSpPr>
            <a:spLocks noGrp="1"/>
          </p:cNvSpPr>
          <p:nvPr>
            <p:ph type="sldNum" sz="quarter" idx="12"/>
          </p:nvPr>
        </p:nvSpPr>
        <p:spPr/>
        <p:txBody>
          <a:bodyPr/>
          <a:lstStyle/>
          <a:p>
            <a:fld id="{C1A5BCA9-BE13-4474-B180-54EA452BBFBA}" type="slidenum">
              <a:rPr lang="en-US" smtClean="0"/>
              <a:t>‹#›</a:t>
            </a:fld>
            <a:endParaRPr lang="en-US"/>
          </a:p>
        </p:txBody>
      </p:sp>
    </p:spTree>
    <p:extLst>
      <p:ext uri="{BB962C8B-B14F-4D97-AF65-F5344CB8AC3E}">
        <p14:creationId xmlns:p14="http://schemas.microsoft.com/office/powerpoint/2010/main" val="7864644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BCE3C9-71C3-F6A9-FA16-5C5C640CF7A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EA7F4F0-216B-E857-8D48-A8C297AEEA9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D215F3A-0166-218E-1C23-219E47FF84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DD746CD-6565-9192-47C2-3C95498A1D5C}"/>
              </a:ext>
            </a:extLst>
          </p:cNvPr>
          <p:cNvSpPr>
            <a:spLocks noGrp="1"/>
          </p:cNvSpPr>
          <p:nvPr>
            <p:ph type="dt" sz="half" idx="10"/>
          </p:nvPr>
        </p:nvSpPr>
        <p:spPr/>
        <p:txBody>
          <a:bodyPr/>
          <a:lstStyle/>
          <a:p>
            <a:fld id="{056F0B4A-DA1D-49B7-841A-6057E317F7A7}" type="datetimeFigureOut">
              <a:rPr lang="en-US" smtClean="0"/>
              <a:t>28-Aug-26</a:t>
            </a:fld>
            <a:endParaRPr lang="en-US"/>
          </a:p>
        </p:txBody>
      </p:sp>
      <p:sp>
        <p:nvSpPr>
          <p:cNvPr id="6" name="Footer Placeholder 5">
            <a:extLst>
              <a:ext uri="{FF2B5EF4-FFF2-40B4-BE49-F238E27FC236}">
                <a16:creationId xmlns:a16="http://schemas.microsoft.com/office/drawing/2014/main" id="{65BD9233-5303-642D-C15A-610350EFF86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9DD02F3-A8FB-E7D7-D0E2-121A69F370DF}"/>
              </a:ext>
            </a:extLst>
          </p:cNvPr>
          <p:cNvSpPr>
            <a:spLocks noGrp="1"/>
          </p:cNvSpPr>
          <p:nvPr>
            <p:ph type="sldNum" sz="quarter" idx="12"/>
          </p:nvPr>
        </p:nvSpPr>
        <p:spPr/>
        <p:txBody>
          <a:bodyPr/>
          <a:lstStyle/>
          <a:p>
            <a:fld id="{C1A5BCA9-BE13-4474-B180-54EA452BBFBA}" type="slidenum">
              <a:rPr lang="en-US" smtClean="0"/>
              <a:t>‹#›</a:t>
            </a:fld>
            <a:endParaRPr lang="en-US"/>
          </a:p>
        </p:txBody>
      </p:sp>
    </p:spTree>
    <p:extLst>
      <p:ext uri="{BB962C8B-B14F-4D97-AF65-F5344CB8AC3E}">
        <p14:creationId xmlns:p14="http://schemas.microsoft.com/office/powerpoint/2010/main" val="32054815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C0C58-C9F7-31E8-70F9-9F7C3C7067C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7E70A12-F3D7-6F3B-3BE9-2457E5B61B0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DE6377E-4454-34EF-B473-45EB7D75C0A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89690E3-1545-8EF4-3381-BFCA11D2298D}"/>
              </a:ext>
            </a:extLst>
          </p:cNvPr>
          <p:cNvSpPr>
            <a:spLocks noGrp="1"/>
          </p:cNvSpPr>
          <p:nvPr>
            <p:ph type="dt" sz="half" idx="10"/>
          </p:nvPr>
        </p:nvSpPr>
        <p:spPr/>
        <p:txBody>
          <a:bodyPr/>
          <a:lstStyle/>
          <a:p>
            <a:fld id="{056F0B4A-DA1D-49B7-841A-6057E317F7A7}" type="datetimeFigureOut">
              <a:rPr lang="en-US" smtClean="0"/>
              <a:t>28-Aug-26</a:t>
            </a:fld>
            <a:endParaRPr lang="en-US"/>
          </a:p>
        </p:txBody>
      </p:sp>
      <p:sp>
        <p:nvSpPr>
          <p:cNvPr id="6" name="Footer Placeholder 5">
            <a:extLst>
              <a:ext uri="{FF2B5EF4-FFF2-40B4-BE49-F238E27FC236}">
                <a16:creationId xmlns:a16="http://schemas.microsoft.com/office/drawing/2014/main" id="{3831953D-0999-C6F0-1D7B-52554F13D9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A185AE3-AFC5-4160-677E-516478DFA90C}"/>
              </a:ext>
            </a:extLst>
          </p:cNvPr>
          <p:cNvSpPr>
            <a:spLocks noGrp="1"/>
          </p:cNvSpPr>
          <p:nvPr>
            <p:ph type="sldNum" sz="quarter" idx="12"/>
          </p:nvPr>
        </p:nvSpPr>
        <p:spPr/>
        <p:txBody>
          <a:bodyPr/>
          <a:lstStyle/>
          <a:p>
            <a:fld id="{C1A5BCA9-BE13-4474-B180-54EA452BBFBA}" type="slidenum">
              <a:rPr lang="en-US" smtClean="0"/>
              <a:t>‹#›</a:t>
            </a:fld>
            <a:endParaRPr lang="en-US"/>
          </a:p>
        </p:txBody>
      </p:sp>
    </p:spTree>
    <p:extLst>
      <p:ext uri="{BB962C8B-B14F-4D97-AF65-F5344CB8AC3E}">
        <p14:creationId xmlns:p14="http://schemas.microsoft.com/office/powerpoint/2010/main" val="12016993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A6587-67FD-47FF-7224-2047BC6C5A2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03BF0AD-28FC-52FA-2046-D97FE75DA8C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66037A-A10D-811E-971C-C37DEC58F73C}"/>
              </a:ext>
            </a:extLst>
          </p:cNvPr>
          <p:cNvSpPr>
            <a:spLocks noGrp="1"/>
          </p:cNvSpPr>
          <p:nvPr>
            <p:ph type="dt" sz="half" idx="10"/>
          </p:nvPr>
        </p:nvSpPr>
        <p:spPr/>
        <p:txBody>
          <a:bodyPr/>
          <a:lstStyle/>
          <a:p>
            <a:fld id="{056F0B4A-DA1D-49B7-841A-6057E317F7A7}" type="datetimeFigureOut">
              <a:rPr lang="en-US" smtClean="0"/>
              <a:t>28-Aug-26</a:t>
            </a:fld>
            <a:endParaRPr lang="en-US"/>
          </a:p>
        </p:txBody>
      </p:sp>
      <p:sp>
        <p:nvSpPr>
          <p:cNvPr id="5" name="Footer Placeholder 4">
            <a:extLst>
              <a:ext uri="{FF2B5EF4-FFF2-40B4-BE49-F238E27FC236}">
                <a16:creationId xmlns:a16="http://schemas.microsoft.com/office/drawing/2014/main" id="{E5CFA33C-9E16-98C6-5E96-9BFD4EB4DA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B8A0034-2DC8-4D1E-F97B-F0D408468F68}"/>
              </a:ext>
            </a:extLst>
          </p:cNvPr>
          <p:cNvSpPr>
            <a:spLocks noGrp="1"/>
          </p:cNvSpPr>
          <p:nvPr>
            <p:ph type="sldNum" sz="quarter" idx="12"/>
          </p:nvPr>
        </p:nvSpPr>
        <p:spPr/>
        <p:txBody>
          <a:bodyPr/>
          <a:lstStyle/>
          <a:p>
            <a:fld id="{C1A5BCA9-BE13-4474-B180-54EA452BBFBA}" type="slidenum">
              <a:rPr lang="en-US" smtClean="0"/>
              <a:t>‹#›</a:t>
            </a:fld>
            <a:endParaRPr lang="en-US"/>
          </a:p>
        </p:txBody>
      </p:sp>
    </p:spTree>
    <p:extLst>
      <p:ext uri="{BB962C8B-B14F-4D97-AF65-F5344CB8AC3E}">
        <p14:creationId xmlns:p14="http://schemas.microsoft.com/office/powerpoint/2010/main" val="2280742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D76899F-924E-8AC9-D670-DDBD6EE191A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ACCF038-5979-8E81-46C5-5C86CADC513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6306C3-CF5F-283A-B0C9-44E9C7739FB1}"/>
              </a:ext>
            </a:extLst>
          </p:cNvPr>
          <p:cNvSpPr>
            <a:spLocks noGrp="1"/>
          </p:cNvSpPr>
          <p:nvPr>
            <p:ph type="dt" sz="half" idx="10"/>
          </p:nvPr>
        </p:nvSpPr>
        <p:spPr/>
        <p:txBody>
          <a:bodyPr/>
          <a:lstStyle/>
          <a:p>
            <a:fld id="{056F0B4A-DA1D-49B7-841A-6057E317F7A7}" type="datetimeFigureOut">
              <a:rPr lang="en-US" smtClean="0"/>
              <a:t>28-Aug-26</a:t>
            </a:fld>
            <a:endParaRPr lang="en-US"/>
          </a:p>
        </p:txBody>
      </p:sp>
      <p:sp>
        <p:nvSpPr>
          <p:cNvPr id="5" name="Footer Placeholder 4">
            <a:extLst>
              <a:ext uri="{FF2B5EF4-FFF2-40B4-BE49-F238E27FC236}">
                <a16:creationId xmlns:a16="http://schemas.microsoft.com/office/drawing/2014/main" id="{C1964B94-D3B4-8C70-7ACD-99F4B5E108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7795866-074D-7907-CD5C-2F83AE358E58}"/>
              </a:ext>
            </a:extLst>
          </p:cNvPr>
          <p:cNvSpPr>
            <a:spLocks noGrp="1"/>
          </p:cNvSpPr>
          <p:nvPr>
            <p:ph type="sldNum" sz="quarter" idx="12"/>
          </p:nvPr>
        </p:nvSpPr>
        <p:spPr/>
        <p:txBody>
          <a:bodyPr/>
          <a:lstStyle/>
          <a:p>
            <a:fld id="{C1A5BCA9-BE13-4474-B180-54EA452BBFBA}" type="slidenum">
              <a:rPr lang="en-US" smtClean="0"/>
              <a:t>‹#›</a:t>
            </a:fld>
            <a:endParaRPr lang="en-US"/>
          </a:p>
        </p:txBody>
      </p:sp>
    </p:spTree>
    <p:extLst>
      <p:ext uri="{BB962C8B-B14F-4D97-AF65-F5344CB8AC3E}">
        <p14:creationId xmlns:p14="http://schemas.microsoft.com/office/powerpoint/2010/main" val="14173485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4AFB3EA-061B-DB32-2027-2DFD64B584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E89CFE9-E6D7-4A17-EFE1-5FCCE93AAD6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44CE8B-FDC8-903B-1007-AA94B9A149E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56F0B4A-DA1D-49B7-841A-6057E317F7A7}" type="datetimeFigureOut">
              <a:rPr lang="en-US" smtClean="0"/>
              <a:t>28-Aug-26</a:t>
            </a:fld>
            <a:endParaRPr lang="en-US"/>
          </a:p>
        </p:txBody>
      </p:sp>
      <p:sp>
        <p:nvSpPr>
          <p:cNvPr id="5" name="Footer Placeholder 4">
            <a:extLst>
              <a:ext uri="{FF2B5EF4-FFF2-40B4-BE49-F238E27FC236}">
                <a16:creationId xmlns:a16="http://schemas.microsoft.com/office/drawing/2014/main" id="{1B95CB4B-F449-8421-4E14-2DB51271B1F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4B556C1-A5AF-6D7C-15C0-C4A1987F93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A5BCA9-BE13-4474-B180-54EA452BBFBA}" type="slidenum">
              <a:rPr lang="en-US" smtClean="0"/>
              <a:t>‹#›</a:t>
            </a:fld>
            <a:endParaRPr lang="en-US"/>
          </a:p>
        </p:txBody>
      </p:sp>
    </p:spTree>
    <p:extLst>
      <p:ext uri="{BB962C8B-B14F-4D97-AF65-F5344CB8AC3E}">
        <p14:creationId xmlns:p14="http://schemas.microsoft.com/office/powerpoint/2010/main" val="42026311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app.powerbi.com/groups/me/reports/2713a51e-c6c1-464a-a8d5-bdef182f38cf/?pbi_source=PowerPoint"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app.powerbi.com/groups/me/reports/2713a51e-c6c1-464a-a8d5-bdef182f38cf/?pbi_source=PowerPoint"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hyperlink" Target="https://app.powerbi.com/groups/me/reports/2713a51e-c6c1-464a-a8d5-bdef182f38cf/?pbi_source=PowerPoint" TargetMode="External"/><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hyperlink" Target="https://app.powerbi.com/groups/me/reports/2713a51e-c6c1-464a-a8d5-bdef182f38cf/?pbi_source=PowerPoint"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9.png"/><Relationship Id="rId4" Type="http://schemas.microsoft.com/office/2007/relationships/hdphoto" Target="../media/hdphoto3.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897D6B7-B507-B0BD-9896-DBC85319E49E}"/>
              </a:ext>
            </a:extLst>
          </p:cNvPr>
          <p:cNvSpPr/>
          <p:nvPr/>
        </p:nvSpPr>
        <p:spPr>
          <a:xfrm flipH="1" flipV="1">
            <a:off x="0" y="3139440"/>
            <a:ext cx="12192000" cy="3718560"/>
          </a:xfrm>
          <a:prstGeom prst="rect">
            <a:avLst/>
          </a:prstGeom>
          <a:solidFill>
            <a:srgbClr val="4956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5575FE01-0C3C-8F4D-2D2F-371AF12EC3B3}"/>
              </a:ext>
            </a:extLst>
          </p:cNvPr>
          <p:cNvSpPr/>
          <p:nvPr/>
        </p:nvSpPr>
        <p:spPr>
          <a:xfrm flipH="1" flipV="1">
            <a:off x="-15876" y="6489700"/>
            <a:ext cx="9871076" cy="7750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 1">
            <a:extLst>
              <a:ext uri="{FF2B5EF4-FFF2-40B4-BE49-F238E27FC236}">
                <a16:creationId xmlns:a16="http://schemas.microsoft.com/office/drawing/2014/main" id="{A8C99414-669F-9A00-3C5E-0662A8E61F02}"/>
              </a:ext>
            </a:extLst>
          </p:cNvPr>
          <p:cNvSpPr/>
          <p:nvPr/>
        </p:nvSpPr>
        <p:spPr>
          <a:xfrm>
            <a:off x="3698774" y="4576314"/>
            <a:ext cx="4794453" cy="475053"/>
          </a:xfrm>
          <a:prstGeom prst="rect">
            <a:avLst/>
          </a:prstGeom>
          <a:solidFill>
            <a:schemeClr val="bg1"/>
          </a:solid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2800" b="1" i="0" u="none" strike="noStrike" kern="0" cap="none" spc="0" normalizeH="0" noProof="0" dirty="0">
                <a:ln>
                  <a:noFill/>
                </a:ln>
                <a:solidFill>
                  <a:srgbClr val="495666"/>
                </a:solidFill>
                <a:effectLst/>
                <a:uLnTx/>
                <a:uFillTx/>
                <a:latin typeface="Calibri Light" panose="020F0302020204030204" pitchFamily="34" charset="0"/>
                <a:ea typeface="Calibri Light" panose="020F0302020204030204" pitchFamily="34" charset="0"/>
                <a:cs typeface="Calibri Light" panose="020F0302020204030204" pitchFamily="34" charset="0"/>
              </a:rPr>
              <a:t>Booking &amp; Customer Analysis</a:t>
            </a:r>
          </a:p>
        </p:txBody>
      </p:sp>
      <p:sp>
        <p:nvSpPr>
          <p:cNvPr id="27" name="Text 1">
            <a:extLst>
              <a:ext uri="{FF2B5EF4-FFF2-40B4-BE49-F238E27FC236}">
                <a16:creationId xmlns:a16="http://schemas.microsoft.com/office/drawing/2014/main" id="{F2161978-87AF-6FE9-D7BB-26EE403AC87D}"/>
              </a:ext>
            </a:extLst>
          </p:cNvPr>
          <p:cNvSpPr>
            <a:spLocks noGrp="1" noRot="1" noMove="1" noResize="1" noEditPoints="1" noAdjustHandles="1" noChangeArrowheads="1" noChangeShapeType="1"/>
          </p:cNvSpPr>
          <p:nvPr/>
        </p:nvSpPr>
        <p:spPr>
          <a:xfrm>
            <a:off x="9844490" y="6278880"/>
            <a:ext cx="2288370" cy="475053"/>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2000" b="1" i="1" u="none" strike="noStrike" kern="0" cap="none" spc="0" normalizeH="0" noProof="0" dirty="0">
                <a:ln>
                  <a:noFill/>
                </a:ln>
                <a:solidFill>
                  <a:schemeClr val="bg1"/>
                </a:solidFill>
                <a:effectLst/>
                <a:uLnTx/>
                <a:uFillTx/>
                <a:latin typeface="Calibri Light" panose="020F0302020204030204" pitchFamily="34" charset="0"/>
                <a:ea typeface="Calibri Light" panose="020F0302020204030204" pitchFamily="34" charset="0"/>
                <a:cs typeface="Calibri Light" panose="020F0302020204030204" pitchFamily="34" charset="0"/>
              </a:rPr>
              <a:t>Solomon Gyamfi</a:t>
            </a:r>
          </a:p>
        </p:txBody>
      </p:sp>
      <p:pic>
        <p:nvPicPr>
          <p:cNvPr id="13" name="Picture 12">
            <a:extLst>
              <a:ext uri="{FF2B5EF4-FFF2-40B4-BE49-F238E27FC236}">
                <a16:creationId xmlns:a16="http://schemas.microsoft.com/office/drawing/2014/main" id="{09E30976-5DF6-D6E4-8F19-4529A29E00D4}"/>
              </a:ext>
            </a:extLst>
          </p:cNvPr>
          <p:cNvPicPr>
            <a:picLocks noChangeAspect="1"/>
          </p:cNvPicPr>
          <p:nvPr/>
        </p:nvPicPr>
        <p:blipFill>
          <a:blip r:embed="rId3">
            <a:alphaModFix amt="20000"/>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t="59386"/>
          <a:stretch>
            <a:fillRect/>
          </a:stretch>
        </p:blipFill>
        <p:spPr>
          <a:xfrm>
            <a:off x="-15876" y="3139440"/>
            <a:ext cx="12207876" cy="3718560"/>
          </a:xfrm>
          <a:prstGeom prst="rect">
            <a:avLst/>
          </a:prstGeom>
        </p:spPr>
      </p:pic>
      <p:sp>
        <p:nvSpPr>
          <p:cNvPr id="19" name="Rectangle 18">
            <a:extLst>
              <a:ext uri="{FF2B5EF4-FFF2-40B4-BE49-F238E27FC236}">
                <a16:creationId xmlns:a16="http://schemas.microsoft.com/office/drawing/2014/main" id="{6D6A4C54-30F3-EF04-4966-80715C14400F}"/>
              </a:ext>
            </a:extLst>
          </p:cNvPr>
          <p:cNvSpPr/>
          <p:nvPr/>
        </p:nvSpPr>
        <p:spPr>
          <a:xfrm flipH="1" flipV="1">
            <a:off x="0" y="0"/>
            <a:ext cx="12192000" cy="3139440"/>
          </a:xfrm>
          <a:prstGeom prst="rect">
            <a:avLst/>
          </a:prstGeom>
          <a:solidFill>
            <a:srgbClr val="E1A9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29AC0506-A33F-C848-9D62-C6A914AA95D4}"/>
              </a:ext>
            </a:extLst>
          </p:cNvPr>
          <p:cNvSpPr txBox="1"/>
          <p:nvPr/>
        </p:nvSpPr>
        <p:spPr>
          <a:xfrm>
            <a:off x="1203325" y="3429000"/>
            <a:ext cx="9785350" cy="1200329"/>
          </a:xfrm>
          <a:prstGeom prst="rect">
            <a:avLst/>
          </a:prstGeom>
        </p:spPr>
        <p:txBody>
          <a:bodyPr wrap="square">
            <a:spAutoFit/>
          </a:bodyPr>
          <a:lstStyle/>
          <a:p>
            <a:pPr algn="ctr"/>
            <a:r>
              <a:rPr lang="en-US" sz="7200" b="1" dirty="0">
                <a:solidFill>
                  <a:schemeClr val="bg1"/>
                </a:solidFill>
                <a:latin typeface="Calibri Light" panose="020F0302020204030204" pitchFamily="34" charset="0"/>
                <a:ea typeface="Calibri Light" panose="020F0302020204030204" pitchFamily="34" charset="0"/>
                <a:cs typeface="Calibri Light" panose="020F0302020204030204" pitchFamily="34" charset="0"/>
              </a:rPr>
              <a:t>Ghana </a:t>
            </a:r>
            <a:r>
              <a:rPr lang="en-US" sz="7200" b="1" dirty="0">
                <a:solidFill>
                  <a:srgbClr val="E1A918"/>
                </a:solidFill>
                <a:latin typeface="Calibri Light" panose="020F0302020204030204" pitchFamily="34" charset="0"/>
                <a:ea typeface="Calibri Light" panose="020F0302020204030204" pitchFamily="34" charset="0"/>
                <a:cs typeface="Calibri Light" panose="020F0302020204030204" pitchFamily="34" charset="0"/>
              </a:rPr>
              <a:t>Adventures</a:t>
            </a:r>
          </a:p>
        </p:txBody>
      </p:sp>
      <p:pic>
        <p:nvPicPr>
          <p:cNvPr id="17" name="Picture 16">
            <a:extLst>
              <a:ext uri="{FF2B5EF4-FFF2-40B4-BE49-F238E27FC236}">
                <a16:creationId xmlns:a16="http://schemas.microsoft.com/office/drawing/2014/main" id="{99B4707C-5A97-09A5-6ABE-7F7EEB519038}"/>
              </a:ext>
            </a:extLst>
          </p:cNvPr>
          <p:cNvPicPr>
            <a:picLocks noChangeAspect="1"/>
          </p:cNvPicPr>
          <p:nvPr/>
        </p:nvPicPr>
        <p:blipFill>
          <a:blip r:embed="rId3">
            <a:alphaModFix amt="85000"/>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t="25097" b="40614"/>
          <a:stretch>
            <a:fillRect/>
          </a:stretch>
        </p:blipFill>
        <p:spPr>
          <a:xfrm>
            <a:off x="-15876" y="0"/>
            <a:ext cx="12207876" cy="3139440"/>
          </a:xfrm>
          <a:prstGeom prst="rect">
            <a:avLst/>
          </a:prstGeom>
        </p:spPr>
      </p:pic>
    </p:spTree>
    <p:extLst>
      <p:ext uri="{BB962C8B-B14F-4D97-AF65-F5344CB8AC3E}">
        <p14:creationId xmlns:p14="http://schemas.microsoft.com/office/powerpoint/2010/main" val="33665846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1171DE0D-78F3-897C-DD0D-E2614DBBB402}"/>
              </a:ext>
            </a:extLst>
          </p:cNvPr>
          <p:cNvSpPr>
            <a:spLocks noGrp="1" noRot="1" noMove="1" noResize="1" noEditPoints="1" noAdjustHandles="1" noChangeArrowheads="1" noChangeShapeType="1"/>
          </p:cNvSpPr>
          <p:nvPr/>
        </p:nvSpPr>
        <p:spPr>
          <a:xfrm>
            <a:off x="2658921" y="0"/>
            <a:ext cx="9533080" cy="6858000"/>
          </a:xfrm>
          <a:prstGeom prst="roundRect">
            <a:avLst>
              <a:gd name="adj" fmla="val 0"/>
            </a:avLst>
          </a:prstGeom>
          <a:solidFill>
            <a:srgbClr val="495666"/>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2000" b="1" i="1">
                <a:solidFill>
                  <a:srgbClr val="053385"/>
                </a:solidFill>
                <a:latin typeface="Calibri Light" panose="020F0302020204030204" pitchFamily="34" charset="0"/>
                <a:ea typeface="Calibri Light" panose="020F0302020204030204" pitchFamily="34" charset="0"/>
                <a:cs typeface="Calibri Light" panose="020F0302020204030204" pitchFamily="34" charset="0"/>
              </a:rPr>
              <a:t> </a:t>
            </a:r>
            <a:endParaRPr lang="en-US" sz="2000" b="1">
              <a:solidFill>
                <a:srgbClr val="053385"/>
              </a:solidFill>
              <a:latin typeface="Calibri Light" panose="020F0302020204030204" pitchFamily="34" charset="0"/>
              <a:ea typeface="Calibri Light" panose="020F0302020204030204" pitchFamily="34" charset="0"/>
              <a:cs typeface="Calibri Light" panose="020F0302020204030204" pitchFamily="34" charset="0"/>
            </a:endParaRPr>
          </a:p>
        </p:txBody>
      </p:sp>
      <p:pic>
        <p:nvPicPr>
          <p:cNvPr id="14" name="Picture 13">
            <a:extLst>
              <a:ext uri="{FF2B5EF4-FFF2-40B4-BE49-F238E27FC236}">
                <a16:creationId xmlns:a16="http://schemas.microsoft.com/office/drawing/2014/main" id="{577B7076-4A96-E78E-8543-3781663A0087}"/>
              </a:ext>
            </a:extLst>
          </p:cNvPr>
          <p:cNvPicPr>
            <a:picLocks noGrp="1" noRot="1" noChangeAspect="1" noMove="1" noResize="1" noEditPoints="1" noAdjustHandles="1" noChangeArrowheads="1" noChangeShapeType="1" noCrop="1"/>
          </p:cNvPicPr>
          <p:nvPr/>
        </p:nvPicPr>
        <p:blipFill>
          <a:blip r:embed="rId3">
            <a:alphaModFix amt="20000"/>
            <a:extLst>
              <a:ext uri="{28A0092B-C50C-407E-A947-70E740481C1C}">
                <a14:useLocalDpi xmlns:a14="http://schemas.microsoft.com/office/drawing/2010/main" val="0"/>
              </a:ext>
            </a:extLst>
          </a:blip>
          <a:srcRect t="10153" b="5439"/>
          <a:stretch>
            <a:fillRect/>
          </a:stretch>
        </p:blipFill>
        <p:spPr>
          <a:xfrm>
            <a:off x="0" y="1"/>
            <a:ext cx="12192000" cy="6858000"/>
          </a:xfrm>
          <a:prstGeom prst="rect">
            <a:avLst/>
          </a:prstGeom>
        </p:spPr>
      </p:pic>
      <p:sp>
        <p:nvSpPr>
          <p:cNvPr id="7" name="TextBox 6">
            <a:extLst>
              <a:ext uri="{FF2B5EF4-FFF2-40B4-BE49-F238E27FC236}">
                <a16:creationId xmlns:a16="http://schemas.microsoft.com/office/drawing/2014/main" id="{634EF127-928B-4882-3FDE-31EC0F2986E8}"/>
              </a:ext>
            </a:extLst>
          </p:cNvPr>
          <p:cNvSpPr txBox="1"/>
          <p:nvPr/>
        </p:nvSpPr>
        <p:spPr>
          <a:xfrm rot="16200000">
            <a:off x="-1856599" y="2503654"/>
            <a:ext cx="6669743" cy="1877437"/>
          </a:xfrm>
          <a:prstGeom prst="rect">
            <a:avLst/>
          </a:prstGeom>
          <a:noFill/>
        </p:spPr>
        <p:txBody>
          <a:bodyPr wrap="square" rtlCol="0">
            <a:spAutoFit/>
          </a:bodyPr>
          <a:lstStyle/>
          <a:p>
            <a:pPr algn="ctr"/>
            <a:r>
              <a:rPr lang="en-US" sz="11600" b="1" dirty="0">
                <a:solidFill>
                  <a:srgbClr val="E1A918"/>
                </a:solidFill>
                <a:latin typeface="Dreaming Outloud Script Pro" panose="020F0502020204030204" pitchFamily="66" charset="0"/>
                <a:ea typeface="Calibri Light" panose="020F0302020204030204" pitchFamily="34" charset="0"/>
                <a:cs typeface="Dreaming Outloud Script Pro" panose="020F0502020204030204" pitchFamily="66" charset="0"/>
              </a:rPr>
              <a:t>Agenda</a:t>
            </a:r>
          </a:p>
        </p:txBody>
      </p:sp>
      <p:grpSp>
        <p:nvGrpSpPr>
          <p:cNvPr id="23" name="Group 22">
            <a:extLst>
              <a:ext uri="{FF2B5EF4-FFF2-40B4-BE49-F238E27FC236}">
                <a16:creationId xmlns:a16="http://schemas.microsoft.com/office/drawing/2014/main" id="{54A844BE-1311-6BBD-E8D6-D854BBEA14E3}"/>
              </a:ext>
            </a:extLst>
          </p:cNvPr>
          <p:cNvGrpSpPr/>
          <p:nvPr/>
        </p:nvGrpSpPr>
        <p:grpSpPr>
          <a:xfrm>
            <a:off x="3404577" y="1003003"/>
            <a:ext cx="6094828" cy="572965"/>
            <a:chOff x="3404577" y="1003003"/>
            <a:chExt cx="6094828" cy="572965"/>
          </a:xfrm>
        </p:grpSpPr>
        <p:sp>
          <p:nvSpPr>
            <p:cNvPr id="19" name="Oval 18">
              <a:extLst>
                <a:ext uri="{FF2B5EF4-FFF2-40B4-BE49-F238E27FC236}">
                  <a16:creationId xmlns:a16="http://schemas.microsoft.com/office/drawing/2014/main" id="{DB0930BE-A34A-2B41-7FC9-E22394618991}"/>
                </a:ext>
              </a:extLst>
            </p:cNvPr>
            <p:cNvSpPr/>
            <p:nvPr/>
          </p:nvSpPr>
          <p:spPr>
            <a:xfrm>
              <a:off x="3404577" y="1003003"/>
              <a:ext cx="572963" cy="572965"/>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E1A918"/>
                  </a:solidFill>
                  <a:effectLst/>
                  <a:uLnTx/>
                  <a:uFillTx/>
                  <a:latin typeface="Calibri Light" panose="020F0302020204030204" pitchFamily="34" charset="0"/>
                  <a:ea typeface="Calibri Light" panose="020F0302020204030204" pitchFamily="34" charset="0"/>
                  <a:cs typeface="Calibri Light" panose="020F0302020204030204" pitchFamily="34" charset="0"/>
                </a:rPr>
                <a:t>1</a:t>
              </a:r>
            </a:p>
          </p:txBody>
        </p:sp>
        <p:sp>
          <p:nvSpPr>
            <p:cNvPr id="9" name="TextBox 8">
              <a:extLst>
                <a:ext uri="{FF2B5EF4-FFF2-40B4-BE49-F238E27FC236}">
                  <a16:creationId xmlns:a16="http://schemas.microsoft.com/office/drawing/2014/main" id="{D9869E20-F875-1EEF-3533-5C3223108A15}"/>
                </a:ext>
              </a:extLst>
            </p:cNvPr>
            <p:cNvSpPr txBox="1"/>
            <p:nvPr/>
          </p:nvSpPr>
          <p:spPr>
            <a:xfrm>
              <a:off x="4219469" y="1027875"/>
              <a:ext cx="5279936" cy="523220"/>
            </a:xfrm>
            <a:prstGeom prst="rect">
              <a:avLst/>
            </a:prstGeom>
            <a:noFill/>
          </p:spPr>
          <p:txBody>
            <a:bodyPr wrap="square" rtlCol="0">
              <a:spAutoFit/>
            </a:bodyPr>
            <a:lstStyle/>
            <a:p>
              <a:r>
                <a:rPr lang="en-US" sz="2800" b="1" dirty="0">
                  <a:solidFill>
                    <a:schemeClr val="bg1"/>
                  </a:solidFill>
                  <a:latin typeface="Calibri Light" panose="020F0302020204030204" pitchFamily="34" charset="0"/>
                  <a:ea typeface="Calibri Light" panose="020F0302020204030204" pitchFamily="34" charset="0"/>
                  <a:cs typeface="Calibri Light" panose="020F0302020204030204" pitchFamily="34" charset="0"/>
                </a:rPr>
                <a:t>Executive Performance Overview</a:t>
              </a:r>
            </a:p>
          </p:txBody>
        </p:sp>
      </p:grpSp>
      <p:grpSp>
        <p:nvGrpSpPr>
          <p:cNvPr id="22" name="Group 21">
            <a:extLst>
              <a:ext uri="{FF2B5EF4-FFF2-40B4-BE49-F238E27FC236}">
                <a16:creationId xmlns:a16="http://schemas.microsoft.com/office/drawing/2014/main" id="{86282EE0-E67A-2314-A4C6-D8D70778B5B0}"/>
              </a:ext>
            </a:extLst>
          </p:cNvPr>
          <p:cNvGrpSpPr/>
          <p:nvPr/>
        </p:nvGrpSpPr>
        <p:grpSpPr>
          <a:xfrm>
            <a:off x="3404577" y="2006631"/>
            <a:ext cx="5790223" cy="584775"/>
            <a:chOff x="3556977" y="1137062"/>
            <a:chExt cx="5790223" cy="584775"/>
          </a:xfrm>
        </p:grpSpPr>
        <p:sp>
          <p:nvSpPr>
            <p:cNvPr id="18" name="Oval 17">
              <a:extLst>
                <a:ext uri="{FF2B5EF4-FFF2-40B4-BE49-F238E27FC236}">
                  <a16:creationId xmlns:a16="http://schemas.microsoft.com/office/drawing/2014/main" id="{9807D994-DBFC-A017-BC08-4DBECDD1089B}"/>
                </a:ext>
              </a:extLst>
            </p:cNvPr>
            <p:cNvSpPr/>
            <p:nvPr/>
          </p:nvSpPr>
          <p:spPr>
            <a:xfrm>
              <a:off x="3556977" y="1142967"/>
              <a:ext cx="572963" cy="572965"/>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3200" b="1" dirty="0">
                  <a:solidFill>
                    <a:srgbClr val="E1A918"/>
                  </a:solidFill>
                  <a:latin typeface="Calibri Light" panose="020F0302020204030204" pitchFamily="34" charset="0"/>
                  <a:ea typeface="Calibri Light" panose="020F0302020204030204" pitchFamily="34" charset="0"/>
                  <a:cs typeface="Calibri Light" panose="020F0302020204030204" pitchFamily="34" charset="0"/>
                </a:rPr>
                <a:t>2</a:t>
              </a:r>
              <a:endParaRPr kumimoji="0" lang="en-US" sz="3200" b="1" i="0" u="none" strike="noStrike" kern="1200" cap="none" spc="0" normalizeH="0" baseline="0" noProof="0" dirty="0">
                <a:ln>
                  <a:noFill/>
                </a:ln>
                <a:solidFill>
                  <a:srgbClr val="E1A918"/>
                </a:solidFill>
                <a:effectLst/>
                <a:uLnTx/>
                <a:uFillTx/>
                <a:latin typeface="Calibri Light" panose="020F0302020204030204" pitchFamily="34" charset="0"/>
                <a:ea typeface="Calibri Light" panose="020F0302020204030204" pitchFamily="34" charset="0"/>
                <a:cs typeface="Calibri Light" panose="020F0302020204030204" pitchFamily="34" charset="0"/>
              </a:endParaRPr>
            </a:p>
          </p:txBody>
        </p:sp>
        <p:sp>
          <p:nvSpPr>
            <p:cNvPr id="21" name="TextBox 20">
              <a:extLst>
                <a:ext uri="{FF2B5EF4-FFF2-40B4-BE49-F238E27FC236}">
                  <a16:creationId xmlns:a16="http://schemas.microsoft.com/office/drawing/2014/main" id="{FF773CB6-F966-1B30-E39B-FBDC45B5D46C}"/>
                </a:ext>
              </a:extLst>
            </p:cNvPr>
            <p:cNvSpPr txBox="1"/>
            <p:nvPr/>
          </p:nvSpPr>
          <p:spPr>
            <a:xfrm>
              <a:off x="4371869" y="1137062"/>
              <a:ext cx="4975331" cy="584775"/>
            </a:xfrm>
            <a:prstGeom prst="rect">
              <a:avLst/>
            </a:prstGeom>
            <a:noFill/>
          </p:spPr>
          <p:txBody>
            <a:bodyPr wrap="square" rtlCol="0">
              <a:spAutoFit/>
            </a:bodyPr>
            <a:lstStyle/>
            <a:p>
              <a:r>
                <a:rPr lang="en-US" sz="3200" b="1" dirty="0">
                  <a:solidFill>
                    <a:schemeClr val="bg1"/>
                  </a:solidFill>
                  <a:latin typeface="Calibri Light" panose="020F0302020204030204" pitchFamily="34" charset="0"/>
                  <a:ea typeface="Calibri Light" panose="020F0302020204030204" pitchFamily="34" charset="0"/>
                  <a:cs typeface="Calibri Light" panose="020F0302020204030204" pitchFamily="34" charset="0"/>
                </a:rPr>
                <a:t>Seasons &amp; Tour Packages</a:t>
              </a:r>
            </a:p>
          </p:txBody>
        </p:sp>
      </p:grpSp>
      <p:grpSp>
        <p:nvGrpSpPr>
          <p:cNvPr id="32" name="Group 31">
            <a:extLst>
              <a:ext uri="{FF2B5EF4-FFF2-40B4-BE49-F238E27FC236}">
                <a16:creationId xmlns:a16="http://schemas.microsoft.com/office/drawing/2014/main" id="{1E02FB47-9E3F-8D6B-3311-A1C58FD8F1AF}"/>
              </a:ext>
            </a:extLst>
          </p:cNvPr>
          <p:cNvGrpSpPr/>
          <p:nvPr/>
        </p:nvGrpSpPr>
        <p:grpSpPr>
          <a:xfrm>
            <a:off x="3404577" y="3046942"/>
            <a:ext cx="7912897" cy="584775"/>
            <a:chOff x="3556977" y="1137062"/>
            <a:chExt cx="7912897" cy="584775"/>
          </a:xfrm>
        </p:grpSpPr>
        <p:sp>
          <p:nvSpPr>
            <p:cNvPr id="33" name="Oval 32">
              <a:extLst>
                <a:ext uri="{FF2B5EF4-FFF2-40B4-BE49-F238E27FC236}">
                  <a16:creationId xmlns:a16="http://schemas.microsoft.com/office/drawing/2014/main" id="{BF058810-F9A3-B78F-4EB0-88D02035CBD7}"/>
                </a:ext>
              </a:extLst>
            </p:cNvPr>
            <p:cNvSpPr/>
            <p:nvPr/>
          </p:nvSpPr>
          <p:spPr>
            <a:xfrm>
              <a:off x="3556977" y="1142967"/>
              <a:ext cx="572963" cy="572965"/>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E1A918"/>
                  </a:solidFill>
                  <a:effectLst/>
                  <a:uLnTx/>
                  <a:uFillTx/>
                  <a:latin typeface="Calibri Light" panose="020F0302020204030204" pitchFamily="34" charset="0"/>
                  <a:ea typeface="Calibri Light" panose="020F0302020204030204" pitchFamily="34" charset="0"/>
                  <a:cs typeface="Calibri Light" panose="020F0302020204030204" pitchFamily="34" charset="0"/>
                </a:rPr>
                <a:t>3</a:t>
              </a:r>
            </a:p>
          </p:txBody>
        </p:sp>
        <p:sp>
          <p:nvSpPr>
            <p:cNvPr id="34" name="TextBox 33">
              <a:extLst>
                <a:ext uri="{FF2B5EF4-FFF2-40B4-BE49-F238E27FC236}">
                  <a16:creationId xmlns:a16="http://schemas.microsoft.com/office/drawing/2014/main" id="{0472B2B3-9074-CE8C-FEE6-1F2366578891}"/>
                </a:ext>
              </a:extLst>
            </p:cNvPr>
            <p:cNvSpPr txBox="1"/>
            <p:nvPr/>
          </p:nvSpPr>
          <p:spPr>
            <a:xfrm>
              <a:off x="4371869" y="1137062"/>
              <a:ext cx="7098005" cy="584775"/>
            </a:xfrm>
            <a:prstGeom prst="rect">
              <a:avLst/>
            </a:prstGeom>
            <a:noFill/>
          </p:spPr>
          <p:txBody>
            <a:bodyPr wrap="square" rtlCol="0">
              <a:spAutoFit/>
            </a:bodyPr>
            <a:lstStyle/>
            <a:p>
              <a:r>
                <a:rPr lang="en-US" sz="3200" b="1" dirty="0">
                  <a:solidFill>
                    <a:schemeClr val="bg1"/>
                  </a:solidFill>
                  <a:latin typeface="Calibri Light" panose="020F0302020204030204" pitchFamily="34" charset="0"/>
                  <a:ea typeface="Calibri Light" panose="020F0302020204030204" pitchFamily="34" charset="0"/>
                  <a:cs typeface="Calibri Light" panose="020F0302020204030204" pitchFamily="34" charset="0"/>
                </a:rPr>
                <a:t>Customer Retention and Spending Patterns</a:t>
              </a:r>
            </a:p>
          </p:txBody>
        </p:sp>
      </p:grpSp>
      <p:grpSp>
        <p:nvGrpSpPr>
          <p:cNvPr id="36" name="Group 35">
            <a:extLst>
              <a:ext uri="{FF2B5EF4-FFF2-40B4-BE49-F238E27FC236}">
                <a16:creationId xmlns:a16="http://schemas.microsoft.com/office/drawing/2014/main" id="{6B12E615-1D26-B355-6DAB-CC5A5F455682}"/>
              </a:ext>
            </a:extLst>
          </p:cNvPr>
          <p:cNvGrpSpPr/>
          <p:nvPr/>
        </p:nvGrpSpPr>
        <p:grpSpPr>
          <a:xfrm>
            <a:off x="3404577" y="4081348"/>
            <a:ext cx="7912897" cy="584775"/>
            <a:chOff x="3556977" y="1137062"/>
            <a:chExt cx="7912897" cy="584775"/>
          </a:xfrm>
        </p:grpSpPr>
        <p:sp>
          <p:nvSpPr>
            <p:cNvPr id="38" name="Oval 37">
              <a:extLst>
                <a:ext uri="{FF2B5EF4-FFF2-40B4-BE49-F238E27FC236}">
                  <a16:creationId xmlns:a16="http://schemas.microsoft.com/office/drawing/2014/main" id="{85CFD9BC-E0F6-D341-8491-D0BCED17A696}"/>
                </a:ext>
              </a:extLst>
            </p:cNvPr>
            <p:cNvSpPr/>
            <p:nvPr/>
          </p:nvSpPr>
          <p:spPr>
            <a:xfrm>
              <a:off x="3556977" y="1142967"/>
              <a:ext cx="572963" cy="572965"/>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E1A918"/>
                  </a:solidFill>
                  <a:effectLst/>
                  <a:uLnTx/>
                  <a:uFillTx/>
                  <a:latin typeface="Calibri Light" panose="020F0302020204030204" pitchFamily="34" charset="0"/>
                  <a:ea typeface="Calibri Light" panose="020F0302020204030204" pitchFamily="34" charset="0"/>
                  <a:cs typeface="Calibri Light" panose="020F0302020204030204" pitchFamily="34" charset="0"/>
                </a:rPr>
                <a:t>4</a:t>
              </a:r>
            </a:p>
          </p:txBody>
        </p:sp>
        <p:sp>
          <p:nvSpPr>
            <p:cNvPr id="39" name="TextBox 38">
              <a:extLst>
                <a:ext uri="{FF2B5EF4-FFF2-40B4-BE49-F238E27FC236}">
                  <a16:creationId xmlns:a16="http://schemas.microsoft.com/office/drawing/2014/main" id="{28CD4473-618A-3F7E-0CD5-E1FA14ED8AA0}"/>
                </a:ext>
              </a:extLst>
            </p:cNvPr>
            <p:cNvSpPr txBox="1"/>
            <p:nvPr/>
          </p:nvSpPr>
          <p:spPr>
            <a:xfrm>
              <a:off x="4371869" y="1137062"/>
              <a:ext cx="7098005" cy="584775"/>
            </a:xfrm>
            <a:prstGeom prst="rect">
              <a:avLst/>
            </a:prstGeom>
            <a:noFill/>
          </p:spPr>
          <p:txBody>
            <a:bodyPr wrap="square" rtlCol="0">
              <a:spAutoFit/>
            </a:bodyPr>
            <a:lstStyle/>
            <a:p>
              <a:r>
                <a:rPr lang="en-US" sz="3200" b="1" dirty="0">
                  <a:solidFill>
                    <a:schemeClr val="bg1"/>
                  </a:solidFill>
                  <a:latin typeface="Calibri Light" panose="020F0302020204030204" pitchFamily="34" charset="0"/>
                  <a:ea typeface="Calibri Light" panose="020F0302020204030204" pitchFamily="34" charset="0"/>
                  <a:cs typeface="Calibri Light" panose="020F0302020204030204" pitchFamily="34" charset="0"/>
                </a:rPr>
                <a:t>Strategies to Boost Off-Season Bookings</a:t>
              </a:r>
            </a:p>
          </p:txBody>
        </p:sp>
      </p:grpSp>
      <p:grpSp>
        <p:nvGrpSpPr>
          <p:cNvPr id="40" name="Group 39">
            <a:extLst>
              <a:ext uri="{FF2B5EF4-FFF2-40B4-BE49-F238E27FC236}">
                <a16:creationId xmlns:a16="http://schemas.microsoft.com/office/drawing/2014/main" id="{EE24D0FF-352C-A528-738E-CDB3BD824186}"/>
              </a:ext>
            </a:extLst>
          </p:cNvPr>
          <p:cNvGrpSpPr/>
          <p:nvPr/>
        </p:nvGrpSpPr>
        <p:grpSpPr>
          <a:xfrm>
            <a:off x="3404577" y="5127564"/>
            <a:ext cx="7912897" cy="584775"/>
            <a:chOff x="3556977" y="1137062"/>
            <a:chExt cx="7912897" cy="584775"/>
          </a:xfrm>
        </p:grpSpPr>
        <p:sp>
          <p:nvSpPr>
            <p:cNvPr id="41" name="Oval 40">
              <a:extLst>
                <a:ext uri="{FF2B5EF4-FFF2-40B4-BE49-F238E27FC236}">
                  <a16:creationId xmlns:a16="http://schemas.microsoft.com/office/drawing/2014/main" id="{AFDF5BF2-00F0-09EB-3E77-38A8C13FE90D}"/>
                </a:ext>
              </a:extLst>
            </p:cNvPr>
            <p:cNvSpPr/>
            <p:nvPr/>
          </p:nvSpPr>
          <p:spPr>
            <a:xfrm>
              <a:off x="3556977" y="1142967"/>
              <a:ext cx="572963" cy="572965"/>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3200" b="1" dirty="0">
                  <a:solidFill>
                    <a:srgbClr val="E1A918"/>
                  </a:solidFill>
                  <a:latin typeface="Calibri Light" panose="020F0302020204030204" pitchFamily="34" charset="0"/>
                  <a:ea typeface="Calibri Light" panose="020F0302020204030204" pitchFamily="34" charset="0"/>
                  <a:cs typeface="Calibri Light" panose="020F0302020204030204" pitchFamily="34" charset="0"/>
                </a:rPr>
                <a:t>5</a:t>
              </a:r>
              <a:endParaRPr kumimoji="0" lang="en-US" sz="3200" b="1" i="0" u="none" strike="noStrike" kern="1200" cap="none" spc="0" normalizeH="0" baseline="0" noProof="0" dirty="0">
                <a:ln>
                  <a:noFill/>
                </a:ln>
                <a:solidFill>
                  <a:srgbClr val="E1A918"/>
                </a:solidFill>
                <a:effectLst/>
                <a:uLnTx/>
                <a:uFillTx/>
                <a:latin typeface="Calibri Light" panose="020F0302020204030204" pitchFamily="34" charset="0"/>
                <a:ea typeface="Calibri Light" panose="020F0302020204030204" pitchFamily="34" charset="0"/>
                <a:cs typeface="Calibri Light" panose="020F0302020204030204" pitchFamily="34" charset="0"/>
              </a:endParaRPr>
            </a:p>
          </p:txBody>
        </p:sp>
        <p:sp>
          <p:nvSpPr>
            <p:cNvPr id="42" name="TextBox 41">
              <a:extLst>
                <a:ext uri="{FF2B5EF4-FFF2-40B4-BE49-F238E27FC236}">
                  <a16:creationId xmlns:a16="http://schemas.microsoft.com/office/drawing/2014/main" id="{56845047-393B-4434-F24A-32C65638FB9D}"/>
                </a:ext>
              </a:extLst>
            </p:cNvPr>
            <p:cNvSpPr txBox="1"/>
            <p:nvPr/>
          </p:nvSpPr>
          <p:spPr>
            <a:xfrm>
              <a:off x="4371869" y="1137062"/>
              <a:ext cx="7098005" cy="584775"/>
            </a:xfrm>
            <a:prstGeom prst="rect">
              <a:avLst/>
            </a:prstGeom>
            <a:noFill/>
          </p:spPr>
          <p:txBody>
            <a:bodyPr wrap="square" rtlCol="0">
              <a:spAutoFit/>
            </a:bodyPr>
            <a:lstStyle/>
            <a:p>
              <a:r>
                <a:rPr lang="en-US" sz="3200" b="1" dirty="0">
                  <a:solidFill>
                    <a:schemeClr val="bg1"/>
                  </a:solidFill>
                  <a:latin typeface="Calibri Light" panose="020F0302020204030204" pitchFamily="34" charset="0"/>
                  <a:ea typeface="Calibri Light" panose="020F0302020204030204" pitchFamily="34" charset="0"/>
                  <a:cs typeface="Calibri Light" panose="020F0302020204030204" pitchFamily="34" charset="0"/>
                </a:rPr>
                <a:t>Business Insights &amp; Recommendations</a:t>
              </a:r>
            </a:p>
          </p:txBody>
        </p:sp>
      </p:grpSp>
      <p:cxnSp>
        <p:nvCxnSpPr>
          <p:cNvPr id="44" name="Straight Connector 43">
            <a:extLst>
              <a:ext uri="{FF2B5EF4-FFF2-40B4-BE49-F238E27FC236}">
                <a16:creationId xmlns:a16="http://schemas.microsoft.com/office/drawing/2014/main" id="{8B0C1E97-025E-3BD2-E220-C7A7B20FF935}"/>
              </a:ext>
            </a:extLst>
          </p:cNvPr>
          <p:cNvCxnSpPr/>
          <p:nvPr/>
        </p:nvCxnSpPr>
        <p:spPr>
          <a:xfrm>
            <a:off x="3687235" y="1642533"/>
            <a:ext cx="0" cy="292100"/>
          </a:xfrm>
          <a:prstGeom prst="line">
            <a:avLst/>
          </a:prstGeom>
          <a:ln w="57150">
            <a:solidFill>
              <a:schemeClr val="bg1"/>
            </a:solidFill>
            <a:prstDash val="sysDash"/>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D7F58AA-DE80-34E6-6BBC-AAB59BDF0C27}"/>
              </a:ext>
            </a:extLst>
          </p:cNvPr>
          <p:cNvCxnSpPr/>
          <p:nvPr/>
        </p:nvCxnSpPr>
        <p:spPr>
          <a:xfrm>
            <a:off x="3687235" y="2658533"/>
            <a:ext cx="0" cy="292100"/>
          </a:xfrm>
          <a:prstGeom prst="line">
            <a:avLst/>
          </a:prstGeom>
          <a:ln w="57150">
            <a:solidFill>
              <a:schemeClr val="bg1"/>
            </a:solidFill>
            <a:prstDash val="sysDash"/>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0FE69E6D-642F-286D-1B47-C8CDB8112B67}"/>
              </a:ext>
            </a:extLst>
          </p:cNvPr>
          <p:cNvCxnSpPr/>
          <p:nvPr/>
        </p:nvCxnSpPr>
        <p:spPr>
          <a:xfrm>
            <a:off x="3687235" y="3708399"/>
            <a:ext cx="0" cy="292100"/>
          </a:xfrm>
          <a:prstGeom prst="line">
            <a:avLst/>
          </a:prstGeom>
          <a:ln w="57150">
            <a:solidFill>
              <a:schemeClr val="bg1"/>
            </a:solidFill>
            <a:prstDash val="sysDash"/>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DE47FC81-0900-ABB9-D9BF-066C283F46FE}"/>
              </a:ext>
            </a:extLst>
          </p:cNvPr>
          <p:cNvCxnSpPr/>
          <p:nvPr/>
        </p:nvCxnSpPr>
        <p:spPr>
          <a:xfrm>
            <a:off x="3691470" y="4741333"/>
            <a:ext cx="0" cy="292100"/>
          </a:xfrm>
          <a:prstGeom prst="line">
            <a:avLst/>
          </a:prstGeom>
          <a:ln w="57150">
            <a:solidFill>
              <a:schemeClr val="bg1"/>
            </a:solidFill>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203193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2">
            <a:extLst>
              <a:ext uri="{FF2B5EF4-FFF2-40B4-BE49-F238E27FC236}">
                <a16:creationId xmlns:a16="http://schemas.microsoft.com/office/drawing/2014/main" id="{1A9BC654-36E5-C7AD-45A9-A811DD477FE9}"/>
              </a:ext>
            </a:extLst>
          </p:cNvPr>
          <p:cNvSpPr/>
          <p:nvPr/>
        </p:nvSpPr>
        <p:spPr>
          <a:xfrm rot="16200000">
            <a:off x="-2327368" y="2927603"/>
            <a:ext cx="5908767" cy="1002792"/>
          </a:xfrm>
          <a:prstGeom prst="rect">
            <a:avLst/>
          </a:prstGeom>
          <a:noFill/>
          <a:ln/>
        </p:spPr>
        <p:txBody>
          <a:bodyPr wrap="square" lIns="0" tIns="0" rIns="0" bIns="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3200" b="1" i="0" u="none" strike="noStrike" kern="0" cap="none" spc="0" normalizeH="0" baseline="0" noProof="0" dirty="0">
                <a:ln>
                  <a:noFill/>
                </a:ln>
                <a:solidFill>
                  <a:srgbClr val="14324A"/>
                </a:solidFill>
                <a:effectLst/>
                <a:uLnTx/>
                <a:uFillTx/>
                <a:latin typeface="Calibri Light" panose="020F0302020204030204" pitchFamily="34" charset="0"/>
                <a:ea typeface="Calibri Light" panose="020F0302020204030204" pitchFamily="34" charset="0"/>
                <a:cs typeface="Calibri Light" panose="020F0302020204030204" pitchFamily="34" charset="0"/>
              </a:rPr>
              <a:t>Executive Performance Overview</a:t>
            </a:r>
            <a:endParaRPr kumimoji="0" lang="en-US" sz="3200" b="0" i="0" u="none" strike="noStrike" kern="0" cap="none" spc="0" normalizeH="0" baseline="0" noProof="0" dirty="0">
              <a:ln>
                <a:noFill/>
              </a:ln>
              <a:solidFill>
                <a:prstClr val="black"/>
              </a:solidFill>
              <a:effectLst/>
              <a:uLnTx/>
              <a:uFillTx/>
              <a:latin typeface="Calibri Light" panose="020F0302020204030204" pitchFamily="34" charset="0"/>
              <a:ea typeface="Calibri Light" panose="020F0302020204030204" pitchFamily="34" charset="0"/>
              <a:cs typeface="Calibri Light" panose="020F0302020204030204" pitchFamily="34" charset="0"/>
            </a:endParaRPr>
          </a:p>
        </p:txBody>
      </p:sp>
      <p:pic>
        <p:nvPicPr>
          <p:cNvPr id="6" name="Picture" title="This slide contains the following visuals: cardVisual ,cardVisual ,cardVisual ,cardVisual ,Monthly Bookings and Revenue ,Booking Share by Channel ,Revenue by Season ,Top 10 Tour Packages by Revenue ,Year ,Season ,Booking Type ,Quarter. Please refer to the notes on this slide for details">
            <a:hlinkClick r:id="rId2"/>
            <a:extLst>
              <a:ext uri="{FF2B5EF4-FFF2-40B4-BE49-F238E27FC236}">
                <a16:creationId xmlns:a16="http://schemas.microsoft.com/office/drawing/2014/main" id="{DF4C1CDB-F0FB-CFEB-5036-855202FAD74E}"/>
              </a:ext>
            </a:extLst>
          </p:cNvPr>
          <p:cNvPicPr>
            <a:picLocks noChangeAspect="1"/>
          </p:cNvPicPr>
          <p:nvPr/>
        </p:nvPicPr>
        <p:blipFill>
          <a:blip r:embed="rId3"/>
          <a:stretch>
            <a:fillRect/>
          </a:stretch>
        </p:blipFill>
        <p:spPr>
          <a:xfrm>
            <a:off x="1128412" y="322832"/>
            <a:ext cx="10888839" cy="6212333"/>
          </a:xfrm>
          <a:prstGeom prst="rect">
            <a:avLst/>
          </a:prstGeom>
          <a:noFill/>
        </p:spPr>
      </p:pic>
    </p:spTree>
    <p:extLst>
      <p:ext uri="{BB962C8B-B14F-4D97-AF65-F5344CB8AC3E}">
        <p14:creationId xmlns:p14="http://schemas.microsoft.com/office/powerpoint/2010/main" val="42088081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title="This slide contains the following visuals: Revenue by Season ,Channel Performance by Season ,Top 5 Tour Packages by Revenue ,Bottom 5 Tour Packages by Revenue. Please refer to the notes on this slide for details">
            <a:hlinkClick r:id="rId3"/>
            <a:extLst>
              <a:ext uri="{FF2B5EF4-FFF2-40B4-BE49-F238E27FC236}">
                <a16:creationId xmlns:a16="http://schemas.microsoft.com/office/drawing/2014/main" id="{31667B81-43B0-4D53-5FF2-89D4DF6B871D}"/>
              </a:ext>
            </a:extLst>
          </p:cNvPr>
          <p:cNvPicPr>
            <a:picLocks noChangeAspect="1"/>
          </p:cNvPicPr>
          <p:nvPr/>
        </p:nvPicPr>
        <p:blipFill>
          <a:blip r:embed="rId4"/>
          <a:stretch>
            <a:fillRect/>
          </a:stretch>
        </p:blipFill>
        <p:spPr>
          <a:xfrm>
            <a:off x="593268" y="1048694"/>
            <a:ext cx="9534506" cy="5439655"/>
          </a:xfrm>
          <a:prstGeom prst="rect">
            <a:avLst/>
          </a:prstGeom>
          <a:noFill/>
        </p:spPr>
      </p:pic>
      <p:grpSp>
        <p:nvGrpSpPr>
          <p:cNvPr id="34" name="Group 33">
            <a:extLst>
              <a:ext uri="{FF2B5EF4-FFF2-40B4-BE49-F238E27FC236}">
                <a16:creationId xmlns:a16="http://schemas.microsoft.com/office/drawing/2014/main" id="{A72A431A-B798-F2AA-F817-9F1AD810C38D}"/>
              </a:ext>
            </a:extLst>
          </p:cNvPr>
          <p:cNvGrpSpPr/>
          <p:nvPr/>
        </p:nvGrpSpPr>
        <p:grpSpPr>
          <a:xfrm>
            <a:off x="8283550" y="1328280"/>
            <a:ext cx="3384756" cy="4201439"/>
            <a:chOff x="8790446" y="1619598"/>
            <a:chExt cx="3024371" cy="4201439"/>
          </a:xfrm>
        </p:grpSpPr>
        <p:grpSp>
          <p:nvGrpSpPr>
            <p:cNvPr id="30" name="Group 29">
              <a:extLst>
                <a:ext uri="{FF2B5EF4-FFF2-40B4-BE49-F238E27FC236}">
                  <a16:creationId xmlns:a16="http://schemas.microsoft.com/office/drawing/2014/main" id="{3307F9FC-2500-5A44-05E6-BCFD4B61EF31}"/>
                </a:ext>
              </a:extLst>
            </p:cNvPr>
            <p:cNvGrpSpPr/>
            <p:nvPr/>
          </p:nvGrpSpPr>
          <p:grpSpPr>
            <a:xfrm>
              <a:off x="8790447" y="3399182"/>
              <a:ext cx="3024370" cy="2421855"/>
              <a:chOff x="8790447" y="3399182"/>
              <a:chExt cx="3024370" cy="2421855"/>
            </a:xfrm>
          </p:grpSpPr>
          <p:sp>
            <p:nvSpPr>
              <p:cNvPr id="27" name="TextBox 26">
                <a:extLst>
                  <a:ext uri="{FF2B5EF4-FFF2-40B4-BE49-F238E27FC236}">
                    <a16:creationId xmlns:a16="http://schemas.microsoft.com/office/drawing/2014/main" id="{4B174C40-E689-86CB-830E-FDE95E907218}"/>
                  </a:ext>
                </a:extLst>
              </p:cNvPr>
              <p:cNvSpPr txBox="1"/>
              <p:nvPr/>
            </p:nvSpPr>
            <p:spPr>
              <a:xfrm>
                <a:off x="8790448" y="3770219"/>
                <a:ext cx="3024369" cy="2050818"/>
              </a:xfrm>
              <a:prstGeom prst="rect">
                <a:avLst/>
              </a:prstGeom>
              <a:noFill/>
            </p:spPr>
            <p:txBody>
              <a:bodyPr wrap="square">
                <a:spAutoFit/>
              </a:bodyPr>
              <a:lstStyle/>
              <a:p>
                <a:pPr>
                  <a:lnSpc>
                    <a:spcPts val="2200"/>
                  </a:lnSpc>
                  <a:spcBef>
                    <a:spcPts val="300"/>
                  </a:spcBef>
                  <a:spcAft>
                    <a:spcPts val="300"/>
                  </a:spcAft>
                </a:pPr>
                <a:r>
                  <a:rPr lang="en-US" sz="1600" b="1"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Safari Experience </a:t>
                </a:r>
                <a:r>
                  <a:rPr lang="en-US" sz="1600"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was the best-selling tour package by revenue</a:t>
                </a:r>
                <a:r>
                  <a:rPr lang="en-US" sz="1600" b="1"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 </a:t>
                </a:r>
                <a:r>
                  <a:rPr lang="en-US" sz="1600"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while</a:t>
                </a:r>
                <a:r>
                  <a:rPr lang="en-US" sz="1600" b="1"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 </a:t>
                </a:r>
                <a:r>
                  <a:rPr lang="en-US" sz="1600" b="1" dirty="0" err="1">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Larabanga</a:t>
                </a:r>
                <a:r>
                  <a:rPr lang="en-US" sz="1600" b="1"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 Mosque Tour &amp; Visit, and Accra City Tour  </a:t>
                </a:r>
                <a:r>
                  <a:rPr lang="en-US" sz="1600"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were among the weakest performers due to their low revenue per booking.</a:t>
                </a:r>
              </a:p>
            </p:txBody>
          </p:sp>
          <p:sp>
            <p:nvSpPr>
              <p:cNvPr id="29" name="Text 21">
                <a:extLst>
                  <a:ext uri="{FF2B5EF4-FFF2-40B4-BE49-F238E27FC236}">
                    <a16:creationId xmlns:a16="http://schemas.microsoft.com/office/drawing/2014/main" id="{48B84663-D011-7E41-0EF4-C2B55C4BA367}"/>
                  </a:ext>
                </a:extLst>
              </p:cNvPr>
              <p:cNvSpPr/>
              <p:nvPr/>
            </p:nvSpPr>
            <p:spPr>
              <a:xfrm>
                <a:off x="8790447" y="3399182"/>
                <a:ext cx="3024369" cy="341219"/>
              </a:xfrm>
              <a:prstGeom prst="rect">
                <a:avLst/>
              </a:prstGeom>
              <a:solidFill>
                <a:srgbClr val="E1A918"/>
              </a:solidFill>
              <a:ln>
                <a:noFill/>
              </a:ln>
            </p:spPr>
            <p:txBody>
              <a:bodyPr wrap="square" lIns="381" tIns="381" rIns="381" bIns="381" rtlCol="0" anchor="ctr"/>
              <a:lstStyle/>
              <a:p>
                <a:pPr marL="119063">
                  <a:buNone/>
                </a:pPr>
                <a:r>
                  <a:rPr lang="en-US" sz="1100" b="1" dirty="0">
                    <a:solidFill>
                      <a:srgbClr val="FFFFFF"/>
                    </a:solidFill>
                    <a:latin typeface="Calibri Light" panose="020F0302020204030204" pitchFamily="34" charset="0"/>
                    <a:ea typeface="Calibri Light" panose="020F0302020204030204" pitchFamily="34" charset="0"/>
                    <a:cs typeface="Calibri Light" panose="020F0302020204030204" pitchFamily="34" charset="0"/>
                  </a:rPr>
                  <a:t>Key Insight – Tour Packages</a:t>
                </a:r>
                <a:endParaRPr lang="en-US" sz="1100" dirty="0">
                  <a:latin typeface="Calibri Light" panose="020F0302020204030204" pitchFamily="34" charset="0"/>
                  <a:ea typeface="Calibri Light" panose="020F0302020204030204" pitchFamily="34" charset="0"/>
                  <a:cs typeface="Calibri Light" panose="020F0302020204030204" pitchFamily="34" charset="0"/>
                </a:endParaRPr>
              </a:p>
            </p:txBody>
          </p:sp>
        </p:grpSp>
        <p:grpSp>
          <p:nvGrpSpPr>
            <p:cNvPr id="31" name="Group 30">
              <a:extLst>
                <a:ext uri="{FF2B5EF4-FFF2-40B4-BE49-F238E27FC236}">
                  <a16:creationId xmlns:a16="http://schemas.microsoft.com/office/drawing/2014/main" id="{DE247AD4-EC3B-A0F9-03C8-DB5AAB8B58C5}"/>
                </a:ext>
              </a:extLst>
            </p:cNvPr>
            <p:cNvGrpSpPr/>
            <p:nvPr/>
          </p:nvGrpSpPr>
          <p:grpSpPr>
            <a:xfrm>
              <a:off x="8790446" y="1619598"/>
              <a:ext cx="3024370" cy="1293341"/>
              <a:chOff x="8790447" y="3399182"/>
              <a:chExt cx="3024370" cy="1293341"/>
            </a:xfrm>
          </p:grpSpPr>
          <p:sp>
            <p:nvSpPr>
              <p:cNvPr id="32" name="TextBox 31">
                <a:extLst>
                  <a:ext uri="{FF2B5EF4-FFF2-40B4-BE49-F238E27FC236}">
                    <a16:creationId xmlns:a16="http://schemas.microsoft.com/office/drawing/2014/main" id="{4CBA2F1E-BE94-BF22-C411-A6AD03DA2F33}"/>
                  </a:ext>
                </a:extLst>
              </p:cNvPr>
              <p:cNvSpPr txBox="1"/>
              <p:nvPr/>
            </p:nvSpPr>
            <p:spPr>
              <a:xfrm>
                <a:off x="8790448" y="3770219"/>
                <a:ext cx="3024369" cy="922304"/>
              </a:xfrm>
              <a:prstGeom prst="rect">
                <a:avLst/>
              </a:prstGeom>
              <a:noFill/>
            </p:spPr>
            <p:txBody>
              <a:bodyPr wrap="square">
                <a:spAutoFit/>
              </a:bodyPr>
              <a:lstStyle/>
              <a:p>
                <a:pPr>
                  <a:lnSpc>
                    <a:spcPts val="2200"/>
                  </a:lnSpc>
                  <a:spcBef>
                    <a:spcPts val="300"/>
                  </a:spcBef>
                  <a:spcAft>
                    <a:spcPts val="300"/>
                  </a:spcAft>
                </a:pPr>
                <a:r>
                  <a:rPr lang="en-US" sz="1600" b="1"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Peak-season </a:t>
                </a:r>
                <a:r>
                  <a:rPr lang="en-US" sz="1600"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customers spent about </a:t>
                </a:r>
                <a:r>
                  <a:rPr lang="en-US" sz="1600" b="1"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20.56% </a:t>
                </a:r>
                <a:r>
                  <a:rPr lang="en-US" sz="1600"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more per booking than </a:t>
                </a:r>
                <a:r>
                  <a:rPr lang="en-US" sz="1600" b="1"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Off-peak customers.</a:t>
                </a:r>
              </a:p>
            </p:txBody>
          </p:sp>
          <p:sp>
            <p:nvSpPr>
              <p:cNvPr id="33" name="Text 21">
                <a:extLst>
                  <a:ext uri="{FF2B5EF4-FFF2-40B4-BE49-F238E27FC236}">
                    <a16:creationId xmlns:a16="http://schemas.microsoft.com/office/drawing/2014/main" id="{CBFE38DB-F799-0C0C-9FF1-0303131273AA}"/>
                  </a:ext>
                </a:extLst>
              </p:cNvPr>
              <p:cNvSpPr/>
              <p:nvPr/>
            </p:nvSpPr>
            <p:spPr>
              <a:xfrm>
                <a:off x="8790447" y="3399182"/>
                <a:ext cx="3024369" cy="341219"/>
              </a:xfrm>
              <a:prstGeom prst="rect">
                <a:avLst/>
              </a:prstGeom>
              <a:solidFill>
                <a:srgbClr val="495666"/>
              </a:solidFill>
              <a:ln>
                <a:noFill/>
              </a:ln>
            </p:spPr>
            <p:txBody>
              <a:bodyPr wrap="square" lIns="381" tIns="381" rIns="381" bIns="381" rtlCol="0" anchor="ctr"/>
              <a:lstStyle/>
              <a:p>
                <a:pPr marL="119063">
                  <a:buNone/>
                </a:pPr>
                <a:r>
                  <a:rPr lang="en-US" sz="1100" b="1" dirty="0">
                    <a:solidFill>
                      <a:srgbClr val="FFFFFF"/>
                    </a:solidFill>
                    <a:latin typeface="Calibri Light" panose="020F0302020204030204" pitchFamily="34" charset="0"/>
                    <a:ea typeface="Calibri Light" panose="020F0302020204030204" pitchFamily="34" charset="0"/>
                    <a:cs typeface="Calibri Light" panose="020F0302020204030204" pitchFamily="34" charset="0"/>
                  </a:rPr>
                  <a:t>Key Insight –  Seasons</a:t>
                </a:r>
                <a:endParaRPr lang="en-US" sz="1100" dirty="0">
                  <a:latin typeface="Calibri Light" panose="020F0302020204030204" pitchFamily="34" charset="0"/>
                  <a:ea typeface="Calibri Light" panose="020F0302020204030204" pitchFamily="34" charset="0"/>
                  <a:cs typeface="Calibri Light" panose="020F0302020204030204" pitchFamily="34" charset="0"/>
                </a:endParaRPr>
              </a:p>
            </p:txBody>
          </p:sp>
        </p:grpSp>
      </p:grpSp>
      <p:sp>
        <p:nvSpPr>
          <p:cNvPr id="36" name="Text 2">
            <a:extLst>
              <a:ext uri="{FF2B5EF4-FFF2-40B4-BE49-F238E27FC236}">
                <a16:creationId xmlns:a16="http://schemas.microsoft.com/office/drawing/2014/main" id="{79D9CBA4-C9A7-1DA4-BAF1-D641FDCF9624}"/>
              </a:ext>
            </a:extLst>
          </p:cNvPr>
          <p:cNvSpPr/>
          <p:nvPr/>
        </p:nvSpPr>
        <p:spPr>
          <a:xfrm>
            <a:off x="593268" y="273842"/>
            <a:ext cx="5908767" cy="616227"/>
          </a:xfrm>
          <a:prstGeom prst="rect">
            <a:avLst/>
          </a:prstGeom>
          <a:noFill/>
          <a:ln/>
        </p:spPr>
        <p:txBody>
          <a:bodyPr wrap="square" lIns="0" tIns="0" rIns="0" bIns="0" rtlCol="0" anchor="ctr">
            <a:normAutofit/>
          </a:bodyPr>
          <a:lstStyle/>
          <a:p>
            <a:pPr marL="168275" marR="0" lvl="0" defTabSz="914400" eaLnBrk="1" fontAlgn="auto" latinLnBrk="0" hangingPunct="1">
              <a:lnSpc>
                <a:spcPct val="100000"/>
              </a:lnSpc>
              <a:spcBef>
                <a:spcPts val="0"/>
              </a:spcBef>
              <a:spcAft>
                <a:spcPts val="0"/>
              </a:spcAft>
              <a:buClrTx/>
              <a:buSzTx/>
              <a:buFontTx/>
              <a:buNone/>
              <a:tabLst/>
              <a:defRPr/>
            </a:pPr>
            <a:r>
              <a:rPr kumimoji="0" lang="en-US" sz="3200" b="1" i="0" u="none" strike="noStrike" kern="0" cap="none" spc="0" normalizeH="0" baseline="0" noProof="0" dirty="0">
                <a:ln>
                  <a:noFill/>
                </a:ln>
                <a:solidFill>
                  <a:srgbClr val="14324A"/>
                </a:solidFill>
                <a:effectLst/>
                <a:uLnTx/>
                <a:uFillTx/>
                <a:latin typeface="Calibri Light" panose="020F0302020204030204" pitchFamily="34" charset="0"/>
                <a:ea typeface="Calibri Light" panose="020F0302020204030204" pitchFamily="34" charset="0"/>
                <a:cs typeface="Calibri Light" panose="020F0302020204030204" pitchFamily="34" charset="0"/>
              </a:rPr>
              <a:t>Seasons &amp; Tour Packages</a:t>
            </a:r>
            <a:endParaRPr kumimoji="0" lang="en-US" sz="3200" b="0" i="0" u="none" strike="noStrike" kern="0" cap="none" spc="0" normalizeH="0" baseline="0" noProof="0" dirty="0">
              <a:ln>
                <a:noFill/>
              </a:ln>
              <a:solidFill>
                <a:prstClr val="black"/>
              </a:solidFill>
              <a:effectLst/>
              <a:uLnTx/>
              <a:uFillTx/>
              <a:latin typeface="Calibri Light" panose="020F0302020204030204" pitchFamily="34" charset="0"/>
              <a:ea typeface="Calibri Light" panose="020F0302020204030204" pitchFamily="34" charset="0"/>
              <a:cs typeface="Calibri Light" panose="020F0302020204030204" pitchFamily="34" charset="0"/>
            </a:endParaRPr>
          </a:p>
        </p:txBody>
      </p:sp>
      <p:sp>
        <p:nvSpPr>
          <p:cNvPr id="18" name="Rectangle 17">
            <a:extLst>
              <a:ext uri="{FF2B5EF4-FFF2-40B4-BE49-F238E27FC236}">
                <a16:creationId xmlns:a16="http://schemas.microsoft.com/office/drawing/2014/main" id="{CA95E7F5-104E-D972-3619-3EABBE2F7BF5}"/>
              </a:ext>
            </a:extLst>
          </p:cNvPr>
          <p:cNvSpPr>
            <a:spLocks/>
          </p:cNvSpPr>
          <p:nvPr/>
        </p:nvSpPr>
        <p:spPr>
          <a:xfrm>
            <a:off x="0" y="6241774"/>
            <a:ext cx="12192000" cy="6162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431578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7696C-151B-F8ED-83E6-C3BD27192C1B}"/>
            </a:ext>
          </a:extLst>
        </p:cNvPr>
        <p:cNvGrpSpPr/>
        <p:nvPr/>
      </p:nvGrpSpPr>
      <p:grpSpPr>
        <a:xfrm>
          <a:off x="0" y="0"/>
          <a:ext cx="0" cy="0"/>
          <a:chOff x="0" y="0"/>
          <a:chExt cx="0" cy="0"/>
        </a:xfrm>
      </p:grpSpPr>
      <p:pic>
        <p:nvPicPr>
          <p:cNvPr id="6" name="Picture" title="This slide contains the following visuals: Average Spent: Repeat vs New Customers ,Channel Performance by Season. Please refer to the notes on this slide for details">
            <a:hlinkClick r:id="rId3"/>
            <a:extLst>
              <a:ext uri="{FF2B5EF4-FFF2-40B4-BE49-F238E27FC236}">
                <a16:creationId xmlns:a16="http://schemas.microsoft.com/office/drawing/2014/main" id="{558CA688-2F60-5847-85BA-C8A4F7BAE954}"/>
              </a:ext>
            </a:extLst>
          </p:cNvPr>
          <p:cNvPicPr>
            <a:picLocks noChangeAspect="1"/>
          </p:cNvPicPr>
          <p:nvPr/>
        </p:nvPicPr>
        <p:blipFill>
          <a:blip r:embed="rId4"/>
          <a:stretch>
            <a:fillRect/>
          </a:stretch>
        </p:blipFill>
        <p:spPr>
          <a:xfrm>
            <a:off x="963037" y="717114"/>
            <a:ext cx="10015031" cy="5713805"/>
          </a:xfrm>
          <a:prstGeom prst="rect">
            <a:avLst/>
          </a:prstGeom>
          <a:noFill/>
        </p:spPr>
      </p:pic>
      <p:sp>
        <p:nvSpPr>
          <p:cNvPr id="18" name="Rectangle 17">
            <a:extLst>
              <a:ext uri="{FF2B5EF4-FFF2-40B4-BE49-F238E27FC236}">
                <a16:creationId xmlns:a16="http://schemas.microsoft.com/office/drawing/2014/main" id="{25E5F95E-2BBC-911A-FE5F-5792EB69DB1B}"/>
              </a:ext>
            </a:extLst>
          </p:cNvPr>
          <p:cNvSpPr>
            <a:spLocks/>
          </p:cNvSpPr>
          <p:nvPr/>
        </p:nvSpPr>
        <p:spPr>
          <a:xfrm>
            <a:off x="0" y="6006228"/>
            <a:ext cx="12192000" cy="8517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2">
            <a:extLst>
              <a:ext uri="{FF2B5EF4-FFF2-40B4-BE49-F238E27FC236}">
                <a16:creationId xmlns:a16="http://schemas.microsoft.com/office/drawing/2014/main" id="{F82CFC0D-16C6-91E4-7552-60E7B92FB605}"/>
              </a:ext>
            </a:extLst>
          </p:cNvPr>
          <p:cNvSpPr/>
          <p:nvPr/>
        </p:nvSpPr>
        <p:spPr>
          <a:xfrm>
            <a:off x="593268" y="273842"/>
            <a:ext cx="8988054" cy="616227"/>
          </a:xfrm>
          <a:prstGeom prst="rect">
            <a:avLst/>
          </a:prstGeom>
          <a:noFill/>
          <a:ln/>
        </p:spPr>
        <p:txBody>
          <a:bodyPr wrap="square" lIns="0" tIns="0" rIns="0" bIns="0" rtlCol="0" anchor="ctr">
            <a:normAutofit/>
          </a:bodyPr>
          <a:lstStyle/>
          <a:p>
            <a:pPr marL="168275" marR="0" lvl="0" defTabSz="914400" eaLnBrk="1" fontAlgn="auto" latinLnBrk="0" hangingPunct="1">
              <a:lnSpc>
                <a:spcPct val="100000"/>
              </a:lnSpc>
              <a:spcBef>
                <a:spcPts val="0"/>
              </a:spcBef>
              <a:spcAft>
                <a:spcPts val="0"/>
              </a:spcAft>
              <a:buClrTx/>
              <a:buSzTx/>
              <a:buFontTx/>
              <a:buNone/>
              <a:tabLst/>
              <a:defRPr/>
            </a:pPr>
            <a:r>
              <a:rPr kumimoji="0" lang="en-US" sz="3200" b="1" i="0" u="none" strike="noStrike" kern="0" cap="none" spc="0" normalizeH="0" baseline="0" noProof="0" dirty="0">
                <a:ln>
                  <a:noFill/>
                </a:ln>
                <a:solidFill>
                  <a:srgbClr val="14324A"/>
                </a:solidFill>
                <a:effectLst/>
                <a:uLnTx/>
                <a:uFillTx/>
                <a:latin typeface="Calibri Light" panose="020F0302020204030204" pitchFamily="34" charset="0"/>
                <a:ea typeface="Calibri Light" panose="020F0302020204030204" pitchFamily="34" charset="0"/>
                <a:cs typeface="Calibri Light" panose="020F0302020204030204" pitchFamily="34" charset="0"/>
              </a:rPr>
              <a:t>Customer Retention and Spending Patterns</a:t>
            </a:r>
            <a:endParaRPr kumimoji="0" lang="en-US" sz="3200" b="0" i="0" u="none" strike="noStrike" kern="0" cap="none" spc="0" normalizeH="0" baseline="0" noProof="0" dirty="0">
              <a:ln>
                <a:noFill/>
              </a:ln>
              <a:solidFill>
                <a:prstClr val="black"/>
              </a:solidFill>
              <a:effectLst/>
              <a:uLnTx/>
              <a:uFillTx/>
              <a:latin typeface="Calibri Light" panose="020F0302020204030204" pitchFamily="34" charset="0"/>
              <a:ea typeface="Calibri Light" panose="020F0302020204030204" pitchFamily="34" charset="0"/>
              <a:cs typeface="Calibri Light" panose="020F0302020204030204" pitchFamily="34" charset="0"/>
            </a:endParaRPr>
          </a:p>
        </p:txBody>
      </p:sp>
      <p:grpSp>
        <p:nvGrpSpPr>
          <p:cNvPr id="5" name="Group 4">
            <a:extLst>
              <a:ext uri="{FF2B5EF4-FFF2-40B4-BE49-F238E27FC236}">
                <a16:creationId xmlns:a16="http://schemas.microsoft.com/office/drawing/2014/main" id="{4425A823-545E-148C-6B04-9E736CC64D0A}"/>
              </a:ext>
            </a:extLst>
          </p:cNvPr>
          <p:cNvGrpSpPr/>
          <p:nvPr/>
        </p:nvGrpSpPr>
        <p:grpSpPr>
          <a:xfrm>
            <a:off x="829203" y="969581"/>
            <a:ext cx="4150301" cy="5304353"/>
            <a:chOff x="1196951" y="834340"/>
            <a:chExt cx="4150301" cy="5304353"/>
          </a:xfrm>
        </p:grpSpPr>
        <p:grpSp>
          <p:nvGrpSpPr>
            <p:cNvPr id="31" name="Group 30">
              <a:extLst>
                <a:ext uri="{FF2B5EF4-FFF2-40B4-BE49-F238E27FC236}">
                  <a16:creationId xmlns:a16="http://schemas.microsoft.com/office/drawing/2014/main" id="{78C0CF2E-BCDD-1687-0A03-E56B8E17DAB9}"/>
                </a:ext>
              </a:extLst>
            </p:cNvPr>
            <p:cNvGrpSpPr/>
            <p:nvPr/>
          </p:nvGrpSpPr>
          <p:grpSpPr>
            <a:xfrm>
              <a:off x="1196951" y="834340"/>
              <a:ext cx="4150300" cy="2158421"/>
              <a:chOff x="8790447" y="3399182"/>
              <a:chExt cx="3024370" cy="1931586"/>
            </a:xfrm>
          </p:grpSpPr>
          <p:sp>
            <p:nvSpPr>
              <p:cNvPr id="32" name="TextBox 31">
                <a:extLst>
                  <a:ext uri="{FF2B5EF4-FFF2-40B4-BE49-F238E27FC236}">
                    <a16:creationId xmlns:a16="http://schemas.microsoft.com/office/drawing/2014/main" id="{045A04EF-19EC-5A31-EAEE-AC6C1C2A0FE2}"/>
                  </a:ext>
                </a:extLst>
              </p:cNvPr>
              <p:cNvSpPr txBox="1"/>
              <p:nvPr/>
            </p:nvSpPr>
            <p:spPr>
              <a:xfrm>
                <a:off x="8790448" y="3770219"/>
                <a:ext cx="3024369" cy="1560549"/>
              </a:xfrm>
              <a:prstGeom prst="rect">
                <a:avLst/>
              </a:prstGeom>
              <a:noFill/>
            </p:spPr>
            <p:txBody>
              <a:bodyPr wrap="square">
                <a:spAutoFit/>
              </a:bodyPr>
              <a:lstStyle/>
              <a:p>
                <a:pPr>
                  <a:lnSpc>
                    <a:spcPts val="2600"/>
                  </a:lnSpc>
                  <a:spcBef>
                    <a:spcPts val="300"/>
                  </a:spcBef>
                  <a:spcAft>
                    <a:spcPts val="300"/>
                  </a:spcAft>
                </a:pPr>
                <a:r>
                  <a:rPr lang="en-US" sz="2000"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Repeat customers spend an average of </a:t>
                </a:r>
                <a:r>
                  <a:rPr lang="en-US" sz="2000" b="1"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GHS 808.52 </a:t>
                </a:r>
                <a:r>
                  <a:rPr lang="en-US" sz="2000"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per booking, compared with </a:t>
                </a:r>
                <a:r>
                  <a:rPr lang="en-US" sz="2000" b="1"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GHS 559.31 </a:t>
                </a:r>
                <a:r>
                  <a:rPr lang="en-US" sz="2000"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for new customers, representing approximately </a:t>
                </a:r>
                <a:r>
                  <a:rPr lang="en-US" sz="2000" b="1"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44.6% </a:t>
                </a:r>
                <a:r>
                  <a:rPr lang="en-US" sz="2000"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higher spending.</a:t>
                </a:r>
              </a:p>
            </p:txBody>
          </p:sp>
          <p:sp>
            <p:nvSpPr>
              <p:cNvPr id="33" name="Text 21">
                <a:extLst>
                  <a:ext uri="{FF2B5EF4-FFF2-40B4-BE49-F238E27FC236}">
                    <a16:creationId xmlns:a16="http://schemas.microsoft.com/office/drawing/2014/main" id="{2FE336F5-77F7-EA4F-ED15-F54E1C322151}"/>
                  </a:ext>
                </a:extLst>
              </p:cNvPr>
              <p:cNvSpPr/>
              <p:nvPr/>
            </p:nvSpPr>
            <p:spPr>
              <a:xfrm>
                <a:off x="8790447" y="3399182"/>
                <a:ext cx="3024369" cy="341219"/>
              </a:xfrm>
              <a:prstGeom prst="rect">
                <a:avLst/>
              </a:prstGeom>
              <a:solidFill>
                <a:srgbClr val="495666"/>
              </a:solidFill>
              <a:ln>
                <a:noFill/>
              </a:ln>
            </p:spPr>
            <p:txBody>
              <a:bodyPr wrap="square" lIns="381" tIns="381" rIns="381" bIns="381" rtlCol="0" anchor="ctr"/>
              <a:lstStyle/>
              <a:p>
                <a:pPr marL="119063">
                  <a:buNone/>
                </a:pPr>
                <a:r>
                  <a:rPr lang="en-US" sz="1400" b="1" dirty="0">
                    <a:solidFill>
                      <a:srgbClr val="FFFFFF"/>
                    </a:solidFill>
                    <a:latin typeface="Calibri Light" panose="020F0302020204030204" pitchFamily="34" charset="0"/>
                    <a:ea typeface="Calibri Light" panose="020F0302020204030204" pitchFamily="34" charset="0"/>
                    <a:cs typeface="Calibri Light" panose="020F0302020204030204" pitchFamily="34" charset="0"/>
                  </a:rPr>
                  <a:t>Key Insight</a:t>
                </a:r>
                <a:endParaRPr lang="en-US" sz="1400" dirty="0">
                  <a:latin typeface="Calibri Light" panose="020F0302020204030204" pitchFamily="34" charset="0"/>
                  <a:ea typeface="Calibri Light" panose="020F0302020204030204" pitchFamily="34" charset="0"/>
                  <a:cs typeface="Calibri Light" panose="020F0302020204030204" pitchFamily="34" charset="0"/>
                </a:endParaRPr>
              </a:p>
            </p:txBody>
          </p:sp>
        </p:grpSp>
        <p:grpSp>
          <p:nvGrpSpPr>
            <p:cNvPr id="30" name="Group 29">
              <a:extLst>
                <a:ext uri="{FF2B5EF4-FFF2-40B4-BE49-F238E27FC236}">
                  <a16:creationId xmlns:a16="http://schemas.microsoft.com/office/drawing/2014/main" id="{92CF66F4-EDCE-8270-2274-2CA1DD9DC0EA}"/>
                </a:ext>
              </a:extLst>
            </p:cNvPr>
            <p:cNvGrpSpPr/>
            <p:nvPr/>
          </p:nvGrpSpPr>
          <p:grpSpPr>
            <a:xfrm>
              <a:off x="1196952" y="3323427"/>
              <a:ext cx="4150300" cy="2815266"/>
              <a:chOff x="8790447" y="3399182"/>
              <a:chExt cx="3024370" cy="2519402"/>
            </a:xfrm>
          </p:grpSpPr>
          <p:sp>
            <p:nvSpPr>
              <p:cNvPr id="27" name="TextBox 26">
                <a:extLst>
                  <a:ext uri="{FF2B5EF4-FFF2-40B4-BE49-F238E27FC236}">
                    <a16:creationId xmlns:a16="http://schemas.microsoft.com/office/drawing/2014/main" id="{84702312-4B88-5A78-F4BF-33609BF6D1F0}"/>
                  </a:ext>
                </a:extLst>
              </p:cNvPr>
              <p:cNvSpPr txBox="1"/>
              <p:nvPr/>
            </p:nvSpPr>
            <p:spPr>
              <a:xfrm>
                <a:off x="8790448" y="3770219"/>
                <a:ext cx="3024369" cy="2148365"/>
              </a:xfrm>
              <a:prstGeom prst="rect">
                <a:avLst/>
              </a:prstGeom>
              <a:noFill/>
            </p:spPr>
            <p:txBody>
              <a:bodyPr wrap="square">
                <a:spAutoFit/>
              </a:bodyPr>
              <a:lstStyle/>
              <a:p>
                <a:pPr marL="342900" indent="-342900">
                  <a:lnSpc>
                    <a:spcPts val="2400"/>
                  </a:lnSpc>
                  <a:spcBef>
                    <a:spcPts val="300"/>
                  </a:spcBef>
                  <a:spcAft>
                    <a:spcPts val="300"/>
                  </a:spcAft>
                  <a:buFont typeface="Wingdings" panose="05000000000000000000" pitchFamily="2" charset="2"/>
                  <a:buChar char="§"/>
                </a:pPr>
                <a:r>
                  <a:rPr lang="en-US" sz="2000"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Build a loyalty </a:t>
                </a:r>
                <a:r>
                  <a:rPr lang="en-US" sz="2000" dirty="0" err="1">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programme</a:t>
                </a:r>
                <a:r>
                  <a:rPr lang="en-US" sz="2000"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 around repeat-booking </a:t>
                </a:r>
                <a:r>
                  <a:rPr lang="en-US" sz="2000" dirty="0" err="1">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behaviour</a:t>
                </a:r>
                <a:r>
                  <a:rPr lang="en-US" sz="2000"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a:t>
                </a:r>
              </a:p>
              <a:p>
                <a:pPr marL="342900" indent="-342900">
                  <a:lnSpc>
                    <a:spcPts val="2400"/>
                  </a:lnSpc>
                  <a:spcBef>
                    <a:spcPts val="300"/>
                  </a:spcBef>
                  <a:spcAft>
                    <a:spcPts val="300"/>
                  </a:spcAft>
                  <a:buFont typeface="Wingdings" panose="05000000000000000000" pitchFamily="2" charset="2"/>
                  <a:buChar char="§"/>
                </a:pPr>
                <a:r>
                  <a:rPr lang="en-US" sz="2000"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Introduce private-tour membership benefits and premium packages.</a:t>
                </a:r>
              </a:p>
              <a:p>
                <a:pPr marL="342900" indent="-342900">
                  <a:lnSpc>
                    <a:spcPts val="2400"/>
                  </a:lnSpc>
                  <a:spcBef>
                    <a:spcPts val="300"/>
                  </a:spcBef>
                  <a:spcAft>
                    <a:spcPts val="300"/>
                  </a:spcAft>
                  <a:buFont typeface="Wingdings" panose="05000000000000000000" pitchFamily="2" charset="2"/>
                  <a:buChar char="§"/>
                </a:pPr>
                <a:r>
                  <a:rPr lang="en-US" sz="2000"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Use post-tour follow-ups to recommend customers’ next destinations.</a:t>
                </a:r>
              </a:p>
            </p:txBody>
          </p:sp>
          <p:sp>
            <p:nvSpPr>
              <p:cNvPr id="29" name="Text 21">
                <a:extLst>
                  <a:ext uri="{FF2B5EF4-FFF2-40B4-BE49-F238E27FC236}">
                    <a16:creationId xmlns:a16="http://schemas.microsoft.com/office/drawing/2014/main" id="{46327B93-DE6D-D5B5-F296-7DEAB3948C20}"/>
                  </a:ext>
                </a:extLst>
              </p:cNvPr>
              <p:cNvSpPr/>
              <p:nvPr/>
            </p:nvSpPr>
            <p:spPr>
              <a:xfrm>
                <a:off x="8790447" y="3399182"/>
                <a:ext cx="3024369" cy="341219"/>
              </a:xfrm>
              <a:prstGeom prst="rect">
                <a:avLst/>
              </a:prstGeom>
              <a:solidFill>
                <a:srgbClr val="E1A918"/>
              </a:solidFill>
              <a:ln>
                <a:noFill/>
              </a:ln>
            </p:spPr>
            <p:txBody>
              <a:bodyPr wrap="square" lIns="381" tIns="381" rIns="381" bIns="381" rtlCol="0" anchor="ctr"/>
              <a:lstStyle/>
              <a:p>
                <a:pPr marL="119063">
                  <a:buNone/>
                </a:pPr>
                <a:r>
                  <a:rPr lang="en-US" sz="1400" b="1" dirty="0">
                    <a:solidFill>
                      <a:srgbClr val="FFFFFF"/>
                    </a:solidFill>
                    <a:latin typeface="Calibri Light" panose="020F0302020204030204" pitchFamily="34" charset="0"/>
                    <a:ea typeface="Calibri Light" panose="020F0302020204030204" pitchFamily="34" charset="0"/>
                    <a:cs typeface="Calibri Light" panose="020F0302020204030204" pitchFamily="34" charset="0"/>
                  </a:rPr>
                  <a:t>Recommended Actions</a:t>
                </a:r>
              </a:p>
            </p:txBody>
          </p:sp>
        </p:grpSp>
      </p:grpSp>
    </p:spTree>
    <p:extLst>
      <p:ext uri="{BB962C8B-B14F-4D97-AF65-F5344CB8AC3E}">
        <p14:creationId xmlns:p14="http://schemas.microsoft.com/office/powerpoint/2010/main" val="15411725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579CE-36CA-2CBF-A6BB-DD98D7273A95}"/>
            </a:ext>
          </a:extLst>
        </p:cNvPr>
        <p:cNvGrpSpPr/>
        <p:nvPr/>
      </p:nvGrpSpPr>
      <p:grpSpPr>
        <a:xfrm>
          <a:off x="0" y="0"/>
          <a:ext cx="0" cy="0"/>
          <a:chOff x="0" y="0"/>
          <a:chExt cx="0" cy="0"/>
        </a:xfrm>
      </p:grpSpPr>
      <p:pic>
        <p:nvPicPr>
          <p:cNvPr id="5" name="Picture" title="This slide contains the following visuals: Booking by Channel Grouping ,Channel Performance by Season. Please refer to the notes on this slide for details">
            <a:hlinkClick r:id="rId3"/>
            <a:extLst>
              <a:ext uri="{FF2B5EF4-FFF2-40B4-BE49-F238E27FC236}">
                <a16:creationId xmlns:a16="http://schemas.microsoft.com/office/drawing/2014/main" id="{42359583-9429-D879-9871-9970AFF70723}"/>
              </a:ext>
            </a:extLst>
          </p:cNvPr>
          <p:cNvPicPr>
            <a:picLocks noChangeAspect="1"/>
          </p:cNvPicPr>
          <p:nvPr/>
        </p:nvPicPr>
        <p:blipFill>
          <a:blip r:embed="rId4"/>
          <a:stretch>
            <a:fillRect/>
          </a:stretch>
        </p:blipFill>
        <p:spPr>
          <a:xfrm>
            <a:off x="667354" y="974965"/>
            <a:ext cx="9527337" cy="5435564"/>
          </a:xfrm>
          <a:prstGeom prst="rect">
            <a:avLst/>
          </a:prstGeom>
          <a:noFill/>
        </p:spPr>
      </p:pic>
      <p:sp>
        <p:nvSpPr>
          <p:cNvPr id="32" name="TextBox 31">
            <a:extLst>
              <a:ext uri="{FF2B5EF4-FFF2-40B4-BE49-F238E27FC236}">
                <a16:creationId xmlns:a16="http://schemas.microsoft.com/office/drawing/2014/main" id="{6F32A92D-E801-659E-8D45-4A7AF320E27A}"/>
              </a:ext>
            </a:extLst>
          </p:cNvPr>
          <p:cNvSpPr txBox="1"/>
          <p:nvPr/>
        </p:nvSpPr>
        <p:spPr>
          <a:xfrm>
            <a:off x="5454797" y="1574421"/>
            <a:ext cx="5855934" cy="3975191"/>
          </a:xfrm>
          <a:prstGeom prst="rect">
            <a:avLst/>
          </a:prstGeom>
          <a:noFill/>
        </p:spPr>
        <p:txBody>
          <a:bodyPr wrap="square">
            <a:spAutoFit/>
          </a:bodyPr>
          <a:lstStyle/>
          <a:p>
            <a:pPr marL="342900" indent="-342900">
              <a:lnSpc>
                <a:spcPts val="2600"/>
              </a:lnSpc>
              <a:spcBef>
                <a:spcPts val="300"/>
              </a:spcBef>
              <a:spcAft>
                <a:spcPts val="300"/>
              </a:spcAft>
              <a:buFont typeface="Wingdings" panose="05000000000000000000" pitchFamily="2" charset="2"/>
              <a:buChar char="§"/>
            </a:pPr>
            <a:r>
              <a:rPr lang="en-US" sz="2000"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Retarget previous customers through </a:t>
            </a:r>
            <a:r>
              <a:rPr lang="en-US" sz="2000" dirty="0" err="1">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personalised</a:t>
            </a:r>
            <a:r>
              <a:rPr lang="en-US" sz="2000"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 emails, social media campaigns and digital advertisements.</a:t>
            </a:r>
          </a:p>
          <a:p>
            <a:pPr marL="342900" indent="-342900">
              <a:lnSpc>
                <a:spcPts val="2600"/>
              </a:lnSpc>
              <a:spcBef>
                <a:spcPts val="300"/>
              </a:spcBef>
              <a:spcAft>
                <a:spcPts val="300"/>
              </a:spcAft>
              <a:buFont typeface="Wingdings" panose="05000000000000000000" pitchFamily="2" charset="2"/>
              <a:buChar char="§"/>
            </a:pPr>
            <a:r>
              <a:rPr lang="en-US" sz="2000"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Run time-limited promotions from August to November, with stronger campaigns in September, the weakest month.</a:t>
            </a:r>
          </a:p>
          <a:p>
            <a:pPr marL="342900" indent="-342900">
              <a:lnSpc>
                <a:spcPts val="2600"/>
              </a:lnSpc>
              <a:spcBef>
                <a:spcPts val="300"/>
              </a:spcBef>
              <a:spcAft>
                <a:spcPts val="300"/>
              </a:spcAft>
              <a:buFont typeface="Wingdings" panose="05000000000000000000" pitchFamily="2" charset="2"/>
              <a:buChar char="§"/>
            </a:pPr>
            <a:r>
              <a:rPr lang="en-US" sz="2000"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Increase package value by combining tours with transport, meals, accommodation or guided experiences instead of relying on heavy discounts.</a:t>
            </a:r>
          </a:p>
          <a:p>
            <a:pPr marL="342900" indent="-342900">
              <a:lnSpc>
                <a:spcPts val="2600"/>
              </a:lnSpc>
              <a:spcBef>
                <a:spcPts val="300"/>
              </a:spcBef>
              <a:spcAft>
                <a:spcPts val="300"/>
              </a:spcAft>
              <a:buFont typeface="Wingdings" panose="05000000000000000000" pitchFamily="2" charset="2"/>
              <a:buChar char="§"/>
            </a:pPr>
            <a:r>
              <a:rPr lang="en-US" sz="2000"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Introduce premium add-ons and private-tour upgrades for higher-spending customer segments.</a:t>
            </a:r>
          </a:p>
        </p:txBody>
      </p:sp>
      <p:sp>
        <p:nvSpPr>
          <p:cNvPr id="33" name="Text 21">
            <a:extLst>
              <a:ext uri="{FF2B5EF4-FFF2-40B4-BE49-F238E27FC236}">
                <a16:creationId xmlns:a16="http://schemas.microsoft.com/office/drawing/2014/main" id="{82D55500-2FC2-4BD3-EAD8-0AECE5EF4641}"/>
              </a:ext>
            </a:extLst>
          </p:cNvPr>
          <p:cNvSpPr/>
          <p:nvPr/>
        </p:nvSpPr>
        <p:spPr>
          <a:xfrm>
            <a:off x="5431023" y="974964"/>
            <a:ext cx="4150299" cy="381290"/>
          </a:xfrm>
          <a:prstGeom prst="rect">
            <a:avLst/>
          </a:prstGeom>
          <a:solidFill>
            <a:srgbClr val="495666"/>
          </a:solidFill>
          <a:ln>
            <a:noFill/>
          </a:ln>
        </p:spPr>
        <p:txBody>
          <a:bodyPr wrap="square" lIns="381" tIns="381" rIns="381" bIns="381" rtlCol="0" anchor="ctr"/>
          <a:lstStyle/>
          <a:p>
            <a:pPr marL="119063">
              <a:buNone/>
            </a:pPr>
            <a:r>
              <a:rPr lang="en-US" sz="1400" b="1" dirty="0">
                <a:solidFill>
                  <a:srgbClr val="FFFFFF"/>
                </a:solidFill>
                <a:latin typeface="Calibri Light" panose="020F0302020204030204" pitchFamily="34" charset="0"/>
                <a:ea typeface="Calibri Light" panose="020F0302020204030204" pitchFamily="34" charset="0"/>
                <a:cs typeface="Calibri Light" panose="020F0302020204030204" pitchFamily="34" charset="0"/>
              </a:rPr>
              <a:t>Off-Season Actions</a:t>
            </a:r>
          </a:p>
        </p:txBody>
      </p:sp>
      <p:sp>
        <p:nvSpPr>
          <p:cNvPr id="4" name="Text 2">
            <a:extLst>
              <a:ext uri="{FF2B5EF4-FFF2-40B4-BE49-F238E27FC236}">
                <a16:creationId xmlns:a16="http://schemas.microsoft.com/office/drawing/2014/main" id="{0346CC7B-727F-52DB-7CD4-67E9A88FA566}"/>
              </a:ext>
            </a:extLst>
          </p:cNvPr>
          <p:cNvSpPr/>
          <p:nvPr/>
        </p:nvSpPr>
        <p:spPr>
          <a:xfrm>
            <a:off x="593268" y="273842"/>
            <a:ext cx="8988054" cy="616227"/>
          </a:xfrm>
          <a:prstGeom prst="rect">
            <a:avLst/>
          </a:prstGeom>
          <a:noFill/>
          <a:ln/>
        </p:spPr>
        <p:txBody>
          <a:bodyPr wrap="square" lIns="0" tIns="0" rIns="0" bIns="0" rtlCol="0" anchor="ctr">
            <a:normAutofit/>
          </a:bodyPr>
          <a:lstStyle/>
          <a:p>
            <a:pPr marL="168275" marR="0" lvl="0" defTabSz="914400" eaLnBrk="1" fontAlgn="auto" latinLnBrk="0" hangingPunct="1">
              <a:lnSpc>
                <a:spcPct val="100000"/>
              </a:lnSpc>
              <a:spcBef>
                <a:spcPts val="0"/>
              </a:spcBef>
              <a:spcAft>
                <a:spcPts val="0"/>
              </a:spcAft>
              <a:buClrTx/>
              <a:buSzTx/>
              <a:buFontTx/>
              <a:buNone/>
              <a:tabLst/>
              <a:defRPr/>
            </a:pPr>
            <a:r>
              <a:rPr kumimoji="0" lang="en-US" sz="3200" b="1" i="0" u="none" strike="noStrike" kern="0" cap="none" spc="0" normalizeH="0" baseline="0" noProof="0" dirty="0">
                <a:ln>
                  <a:noFill/>
                </a:ln>
                <a:solidFill>
                  <a:srgbClr val="14324A"/>
                </a:solidFill>
                <a:effectLst/>
                <a:uLnTx/>
                <a:uFillTx/>
                <a:latin typeface="Calibri Light" panose="020F0302020204030204" pitchFamily="34" charset="0"/>
                <a:ea typeface="Calibri Light" panose="020F0302020204030204" pitchFamily="34" charset="0"/>
                <a:cs typeface="Calibri Light" panose="020F0302020204030204" pitchFamily="34" charset="0"/>
              </a:rPr>
              <a:t>Strategies to Boost Off-Season Bookings</a:t>
            </a:r>
            <a:endParaRPr kumimoji="0" lang="en-US" sz="3200" b="0" i="0" u="none" strike="noStrike" kern="0" cap="none" spc="0" normalizeH="0" baseline="0" noProof="0" dirty="0">
              <a:ln>
                <a:noFill/>
              </a:ln>
              <a:solidFill>
                <a:prstClr val="black"/>
              </a:solidFill>
              <a:effectLst/>
              <a:uLnTx/>
              <a:uFillTx/>
              <a:latin typeface="Calibri Light" panose="020F0302020204030204" pitchFamily="34" charset="0"/>
              <a:ea typeface="Calibri Light" panose="020F0302020204030204" pitchFamily="34" charset="0"/>
              <a:cs typeface="Calibri Light" panose="020F0302020204030204" pitchFamily="34" charset="0"/>
            </a:endParaRPr>
          </a:p>
        </p:txBody>
      </p:sp>
      <p:sp>
        <p:nvSpPr>
          <p:cNvPr id="18" name="Rectangle 17">
            <a:extLst>
              <a:ext uri="{FF2B5EF4-FFF2-40B4-BE49-F238E27FC236}">
                <a16:creationId xmlns:a16="http://schemas.microsoft.com/office/drawing/2014/main" id="{6A48E0C5-87EE-0484-A4D5-4967A98A869B}"/>
              </a:ext>
            </a:extLst>
          </p:cNvPr>
          <p:cNvSpPr>
            <a:spLocks/>
          </p:cNvSpPr>
          <p:nvPr/>
        </p:nvSpPr>
        <p:spPr>
          <a:xfrm>
            <a:off x="0" y="6307252"/>
            <a:ext cx="12192000" cy="55074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856800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Rectangle: Rounded Corners 64">
            <a:extLst>
              <a:ext uri="{FF2B5EF4-FFF2-40B4-BE49-F238E27FC236}">
                <a16:creationId xmlns:a16="http://schemas.microsoft.com/office/drawing/2014/main" id="{6A7E08ED-6152-C111-A233-D915974A0FAC}"/>
              </a:ext>
            </a:extLst>
          </p:cNvPr>
          <p:cNvSpPr/>
          <p:nvPr/>
        </p:nvSpPr>
        <p:spPr>
          <a:xfrm>
            <a:off x="0" y="0"/>
            <a:ext cx="4711148" cy="6858000"/>
          </a:xfrm>
          <a:prstGeom prst="roundRect">
            <a:avLst>
              <a:gd name="adj" fmla="val 0"/>
            </a:avLst>
          </a:prstGeom>
          <a:solidFill>
            <a:srgbClr val="495666"/>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2000" b="1" i="1">
                <a:solidFill>
                  <a:srgbClr val="053385"/>
                </a:solidFill>
                <a:latin typeface="Calibri Light" panose="020F0302020204030204" pitchFamily="34" charset="0"/>
                <a:ea typeface="Calibri Light" panose="020F0302020204030204" pitchFamily="34" charset="0"/>
                <a:cs typeface="Calibri Light" panose="020F0302020204030204" pitchFamily="34" charset="0"/>
              </a:rPr>
              <a:t> </a:t>
            </a:r>
            <a:endParaRPr lang="en-US" sz="2000" b="1">
              <a:solidFill>
                <a:srgbClr val="053385"/>
              </a:solidFill>
              <a:latin typeface="Calibri Light" panose="020F0302020204030204" pitchFamily="34" charset="0"/>
              <a:ea typeface="Calibri Light" panose="020F0302020204030204" pitchFamily="34" charset="0"/>
              <a:cs typeface="Calibri Light" panose="020F0302020204030204" pitchFamily="34" charset="0"/>
            </a:endParaRPr>
          </a:p>
        </p:txBody>
      </p:sp>
      <p:pic>
        <p:nvPicPr>
          <p:cNvPr id="67" name="Picture 66">
            <a:extLst>
              <a:ext uri="{FF2B5EF4-FFF2-40B4-BE49-F238E27FC236}">
                <a16:creationId xmlns:a16="http://schemas.microsoft.com/office/drawing/2014/main" id="{CA864630-189C-7C9D-84E7-183302E057F0}"/>
              </a:ext>
            </a:extLst>
          </p:cNvPr>
          <p:cNvPicPr>
            <a:picLocks noChangeAspect="1"/>
          </p:cNvPicPr>
          <p:nvPr/>
        </p:nvPicPr>
        <p:blipFill>
          <a:blip r:embed="rId2">
            <a:alphaModFix amt="20000"/>
            <a:extLst>
              <a:ext uri="{BEBA8EAE-BF5A-486C-A8C5-ECC9F3942E4B}">
                <a14:imgProps xmlns:a14="http://schemas.microsoft.com/office/drawing/2010/main">
                  <a14:imgLayer r:embed="rId3">
                    <a14:imgEffect>
                      <a14:saturation sat="0"/>
                    </a14:imgEffect>
                  </a14:imgLayer>
                </a14:imgProps>
              </a:ext>
              <a:ext uri="{28A0092B-C50C-407E-A947-70E740481C1C}">
                <a14:useLocalDpi xmlns:a14="http://schemas.microsoft.com/office/drawing/2010/main" val="0"/>
              </a:ext>
            </a:extLst>
          </a:blip>
          <a:stretch>
            <a:fillRect/>
          </a:stretch>
        </p:blipFill>
        <p:spPr>
          <a:xfrm>
            <a:off x="0" y="-240586"/>
            <a:ext cx="4711148" cy="7066722"/>
          </a:xfrm>
          <a:prstGeom prst="rect">
            <a:avLst/>
          </a:prstGeom>
        </p:spPr>
      </p:pic>
      <p:sp>
        <p:nvSpPr>
          <p:cNvPr id="41" name="Text 2">
            <a:extLst>
              <a:ext uri="{FF2B5EF4-FFF2-40B4-BE49-F238E27FC236}">
                <a16:creationId xmlns:a16="http://schemas.microsoft.com/office/drawing/2014/main" id="{876AEED4-FC8F-DE05-9B6B-4932E829EDC4}"/>
              </a:ext>
            </a:extLst>
          </p:cNvPr>
          <p:cNvSpPr/>
          <p:nvPr/>
        </p:nvSpPr>
        <p:spPr>
          <a:xfrm>
            <a:off x="4906884" y="190365"/>
            <a:ext cx="6612602" cy="616227"/>
          </a:xfrm>
          <a:prstGeom prst="rect">
            <a:avLst/>
          </a:prstGeom>
          <a:noFill/>
          <a:ln/>
        </p:spPr>
        <p:txBody>
          <a:bodyPr wrap="square" lIns="0" tIns="0" rIns="0" bIns="0" rtlCol="0" anchor="ctr">
            <a:normAutofit/>
          </a:bodyPr>
          <a:lstStyle/>
          <a:p>
            <a:pPr marL="168275" marR="0" lvl="0" defTabSz="914400" eaLnBrk="1" fontAlgn="auto" latinLnBrk="0" hangingPunct="1">
              <a:lnSpc>
                <a:spcPct val="100000"/>
              </a:lnSpc>
              <a:spcBef>
                <a:spcPts val="0"/>
              </a:spcBef>
              <a:spcAft>
                <a:spcPts val="0"/>
              </a:spcAft>
              <a:buClrTx/>
              <a:buSzTx/>
              <a:buFontTx/>
              <a:buNone/>
              <a:tabLst/>
              <a:defRPr/>
            </a:pPr>
            <a:r>
              <a:rPr kumimoji="0" lang="en-US" sz="3200" b="1" i="0" u="none" strike="noStrike" kern="0" cap="none" spc="0" normalizeH="0" baseline="0" noProof="0" dirty="0">
                <a:ln>
                  <a:noFill/>
                </a:ln>
                <a:solidFill>
                  <a:srgbClr val="14324A"/>
                </a:solidFill>
                <a:effectLst/>
                <a:uLnTx/>
                <a:uFillTx/>
                <a:latin typeface="Calibri Light" panose="020F0302020204030204" pitchFamily="34" charset="0"/>
                <a:ea typeface="Calibri Light" panose="020F0302020204030204" pitchFamily="34" charset="0"/>
                <a:cs typeface="Calibri Light" panose="020F0302020204030204" pitchFamily="34" charset="0"/>
              </a:rPr>
              <a:t>Business Insights &amp; Recommendations</a:t>
            </a:r>
          </a:p>
        </p:txBody>
      </p:sp>
      <p:grpSp>
        <p:nvGrpSpPr>
          <p:cNvPr id="57" name="Group 56">
            <a:extLst>
              <a:ext uri="{FF2B5EF4-FFF2-40B4-BE49-F238E27FC236}">
                <a16:creationId xmlns:a16="http://schemas.microsoft.com/office/drawing/2014/main" id="{1FA27D55-CB1B-33FF-411B-D9A9404277B1}"/>
              </a:ext>
            </a:extLst>
          </p:cNvPr>
          <p:cNvGrpSpPr/>
          <p:nvPr/>
        </p:nvGrpSpPr>
        <p:grpSpPr>
          <a:xfrm>
            <a:off x="593412" y="936648"/>
            <a:ext cx="3675620" cy="4508758"/>
            <a:chOff x="771212" y="1343661"/>
            <a:chExt cx="3675620" cy="4508758"/>
          </a:xfrm>
        </p:grpSpPr>
        <p:sp>
          <p:nvSpPr>
            <p:cNvPr id="43" name="Text 21">
              <a:extLst>
                <a:ext uri="{FF2B5EF4-FFF2-40B4-BE49-F238E27FC236}">
                  <a16:creationId xmlns:a16="http://schemas.microsoft.com/office/drawing/2014/main" id="{B63A3B74-B103-576A-954B-9BC67DC97265}"/>
                </a:ext>
              </a:extLst>
            </p:cNvPr>
            <p:cNvSpPr/>
            <p:nvPr/>
          </p:nvSpPr>
          <p:spPr>
            <a:xfrm>
              <a:off x="828527" y="1921624"/>
              <a:ext cx="759681" cy="381290"/>
            </a:xfrm>
            <a:prstGeom prst="rect">
              <a:avLst/>
            </a:prstGeom>
            <a:solidFill>
              <a:schemeClr val="bg1"/>
            </a:solidFill>
            <a:ln>
              <a:noFill/>
            </a:ln>
          </p:spPr>
          <p:txBody>
            <a:bodyPr wrap="square" lIns="381" tIns="381" rIns="381" bIns="381" rtlCol="0" anchor="ctr"/>
            <a:lstStyle/>
            <a:p>
              <a:pPr marL="119063">
                <a:buNone/>
              </a:pPr>
              <a:r>
                <a:rPr lang="en-US" sz="1100" b="1"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Expand</a:t>
              </a:r>
            </a:p>
          </p:txBody>
        </p:sp>
        <p:sp>
          <p:nvSpPr>
            <p:cNvPr id="45" name="TextBox 44">
              <a:extLst>
                <a:ext uri="{FF2B5EF4-FFF2-40B4-BE49-F238E27FC236}">
                  <a16:creationId xmlns:a16="http://schemas.microsoft.com/office/drawing/2014/main" id="{D8FDE33A-C0C0-64F5-C777-8955060FAC0D}"/>
                </a:ext>
              </a:extLst>
            </p:cNvPr>
            <p:cNvSpPr txBox="1"/>
            <p:nvPr/>
          </p:nvSpPr>
          <p:spPr>
            <a:xfrm>
              <a:off x="1768438" y="1343661"/>
              <a:ext cx="2678394" cy="1537216"/>
            </a:xfrm>
            <a:prstGeom prst="rect">
              <a:avLst/>
            </a:prstGeom>
            <a:solidFill>
              <a:schemeClr val="bg1"/>
            </a:solidFill>
          </p:spPr>
          <p:txBody>
            <a:bodyPr wrap="square">
              <a:spAutoFit/>
            </a:bodyPr>
            <a:lstStyle/>
            <a:p>
              <a:pPr marL="457200" indent="-342900">
                <a:lnSpc>
                  <a:spcPts val="1800"/>
                </a:lnSpc>
                <a:spcBef>
                  <a:spcPts val="300"/>
                </a:spcBef>
                <a:spcAft>
                  <a:spcPts val="300"/>
                </a:spcAft>
                <a:buFont typeface="Wingdings" panose="05000000000000000000" pitchFamily="2" charset="2"/>
                <a:buChar char="§"/>
              </a:pPr>
              <a:r>
                <a:rPr lang="en-US" sz="1200" b="1"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Safari Experience</a:t>
              </a:r>
            </a:p>
            <a:p>
              <a:pPr marL="457200" indent="-342900">
                <a:lnSpc>
                  <a:spcPts val="1800"/>
                </a:lnSpc>
                <a:spcBef>
                  <a:spcPts val="300"/>
                </a:spcBef>
                <a:spcAft>
                  <a:spcPts val="300"/>
                </a:spcAft>
                <a:buFont typeface="Wingdings" panose="05000000000000000000" pitchFamily="2" charset="2"/>
                <a:buChar char="§"/>
              </a:pPr>
              <a:r>
                <a:rPr lang="en-US" sz="1200" b="1"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Volta Adventure</a:t>
              </a:r>
            </a:p>
            <a:p>
              <a:pPr marL="457200" indent="-342900">
                <a:lnSpc>
                  <a:spcPts val="1800"/>
                </a:lnSpc>
                <a:spcBef>
                  <a:spcPts val="300"/>
                </a:spcBef>
                <a:spcAft>
                  <a:spcPts val="300"/>
                </a:spcAft>
                <a:buFont typeface="Wingdings" panose="05000000000000000000" pitchFamily="2" charset="2"/>
                <a:buChar char="§"/>
              </a:pPr>
              <a:r>
                <a:rPr lang="en-US" sz="1200" b="1"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Lake </a:t>
              </a:r>
              <a:r>
                <a:rPr lang="en-US" sz="1200" b="1" dirty="0" err="1">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Bosomtwe</a:t>
              </a:r>
              <a:r>
                <a:rPr lang="en-US" sz="1200" b="1"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 Cruise</a:t>
              </a:r>
            </a:p>
            <a:p>
              <a:pPr marL="457200" indent="-342900">
                <a:lnSpc>
                  <a:spcPts val="1800"/>
                </a:lnSpc>
                <a:spcBef>
                  <a:spcPts val="300"/>
                </a:spcBef>
                <a:spcAft>
                  <a:spcPts val="300"/>
                </a:spcAft>
                <a:buFont typeface="Wingdings" panose="05000000000000000000" pitchFamily="2" charset="2"/>
                <a:buChar char="§"/>
              </a:pPr>
              <a:r>
                <a:rPr lang="en-US" sz="1200" b="1"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Kumasi Heritage Tour</a:t>
              </a:r>
            </a:p>
            <a:p>
              <a:pPr marL="457200" indent="-342900">
                <a:lnSpc>
                  <a:spcPts val="1800"/>
                </a:lnSpc>
                <a:spcBef>
                  <a:spcPts val="300"/>
                </a:spcBef>
                <a:spcAft>
                  <a:spcPts val="300"/>
                </a:spcAft>
                <a:buFont typeface="Wingdings" panose="05000000000000000000" pitchFamily="2" charset="2"/>
                <a:buChar char="§"/>
              </a:pPr>
              <a:r>
                <a:rPr lang="en-US" sz="1200" b="1"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Shai Hills Adventure</a:t>
              </a:r>
            </a:p>
          </p:txBody>
        </p:sp>
        <p:sp>
          <p:nvSpPr>
            <p:cNvPr id="47" name="Text 21">
              <a:extLst>
                <a:ext uri="{FF2B5EF4-FFF2-40B4-BE49-F238E27FC236}">
                  <a16:creationId xmlns:a16="http://schemas.microsoft.com/office/drawing/2014/main" id="{A2B16C13-6F0A-E75B-1068-F8EA342B6817}"/>
                </a:ext>
              </a:extLst>
            </p:cNvPr>
            <p:cNvSpPr/>
            <p:nvPr/>
          </p:nvSpPr>
          <p:spPr>
            <a:xfrm>
              <a:off x="771212" y="5207354"/>
              <a:ext cx="816996" cy="381290"/>
            </a:xfrm>
            <a:prstGeom prst="rect">
              <a:avLst/>
            </a:prstGeom>
            <a:solidFill>
              <a:srgbClr val="E1A918"/>
            </a:solidFill>
            <a:ln>
              <a:noFill/>
            </a:ln>
          </p:spPr>
          <p:txBody>
            <a:bodyPr wrap="square" lIns="381" tIns="381" rIns="381" bIns="381" rtlCol="0" anchor="ctr"/>
            <a:lstStyle/>
            <a:p>
              <a:pPr marL="119063">
                <a:buNone/>
              </a:pPr>
              <a:r>
                <a:rPr lang="en-US" sz="1100" b="1" dirty="0">
                  <a:solidFill>
                    <a:srgbClr val="FFFFFF"/>
                  </a:solidFill>
                  <a:latin typeface="Calibri Light" panose="020F0302020204030204" pitchFamily="34" charset="0"/>
                  <a:ea typeface="Calibri Light" panose="020F0302020204030204" pitchFamily="34" charset="0"/>
                  <a:cs typeface="Calibri Light" panose="020F0302020204030204" pitchFamily="34" charset="0"/>
                </a:rPr>
                <a:t>Adjust</a:t>
              </a:r>
            </a:p>
          </p:txBody>
        </p:sp>
        <p:sp>
          <p:nvSpPr>
            <p:cNvPr id="49" name="TextBox 48">
              <a:extLst>
                <a:ext uri="{FF2B5EF4-FFF2-40B4-BE49-F238E27FC236}">
                  <a16:creationId xmlns:a16="http://schemas.microsoft.com/office/drawing/2014/main" id="{CBCDB36A-A1B9-3004-C521-C2A31BBD4A7E}"/>
                </a:ext>
              </a:extLst>
            </p:cNvPr>
            <p:cNvSpPr txBox="1"/>
            <p:nvPr/>
          </p:nvSpPr>
          <p:spPr>
            <a:xfrm>
              <a:off x="1768438" y="4943580"/>
              <a:ext cx="2678394" cy="908839"/>
            </a:xfrm>
            <a:prstGeom prst="rect">
              <a:avLst/>
            </a:prstGeom>
            <a:solidFill>
              <a:srgbClr val="E1A918"/>
            </a:solidFill>
          </p:spPr>
          <p:txBody>
            <a:bodyPr wrap="square">
              <a:spAutoFit/>
            </a:bodyPr>
            <a:lstStyle/>
            <a:p>
              <a:pPr marL="114300">
                <a:lnSpc>
                  <a:spcPts val="2200"/>
                </a:lnSpc>
                <a:spcBef>
                  <a:spcPts val="300"/>
                </a:spcBef>
                <a:spcAft>
                  <a:spcPts val="300"/>
                </a:spcAft>
              </a:pPr>
              <a:r>
                <a:rPr lang="en-US" sz="1200" b="1" dirty="0">
                  <a:solidFill>
                    <a:schemeClr val="bg1"/>
                  </a:solidFill>
                  <a:latin typeface="Calibri Light" panose="020F0302020204030204" pitchFamily="34" charset="0"/>
                  <a:ea typeface="Calibri Light" panose="020F0302020204030204" pitchFamily="34" charset="0"/>
                  <a:cs typeface="Calibri Light" panose="020F0302020204030204" pitchFamily="34" charset="0"/>
                </a:rPr>
                <a:t>Bundle low-value tours such as Aburi Gardens, Accra City, Elmina Castle, </a:t>
              </a:r>
              <a:r>
                <a:rPr lang="en-US" sz="1200" b="1" dirty="0" err="1">
                  <a:solidFill>
                    <a:schemeClr val="bg1"/>
                  </a:solidFill>
                  <a:latin typeface="Calibri Light" panose="020F0302020204030204" pitchFamily="34" charset="0"/>
                  <a:ea typeface="Calibri Light" panose="020F0302020204030204" pitchFamily="34" charset="0"/>
                  <a:cs typeface="Calibri Light" panose="020F0302020204030204" pitchFamily="34" charset="0"/>
                </a:rPr>
                <a:t>Tafi</a:t>
              </a:r>
              <a:r>
                <a:rPr lang="en-US" sz="1200" b="1" dirty="0">
                  <a:solidFill>
                    <a:schemeClr val="bg1"/>
                  </a:solidFill>
                  <a:latin typeface="Calibri Light" panose="020F0302020204030204" pitchFamily="34" charset="0"/>
                  <a:ea typeface="Calibri Light" panose="020F0302020204030204" pitchFamily="34" charset="0"/>
                  <a:cs typeface="Calibri Light" panose="020F0302020204030204" pitchFamily="34" charset="0"/>
                </a:rPr>
                <a:t> </a:t>
              </a:r>
              <a:r>
                <a:rPr lang="en-US" sz="1200" b="1" dirty="0" err="1">
                  <a:solidFill>
                    <a:schemeClr val="bg1"/>
                  </a:solidFill>
                  <a:latin typeface="Calibri Light" panose="020F0302020204030204" pitchFamily="34" charset="0"/>
                  <a:ea typeface="Calibri Light" panose="020F0302020204030204" pitchFamily="34" charset="0"/>
                  <a:cs typeface="Calibri Light" panose="020F0302020204030204" pitchFamily="34" charset="0"/>
                </a:rPr>
                <a:t>Atome</a:t>
              </a:r>
              <a:r>
                <a:rPr lang="en-US" sz="1200" b="1" dirty="0">
                  <a:solidFill>
                    <a:schemeClr val="bg1"/>
                  </a:solidFill>
                  <a:latin typeface="Calibri Light" panose="020F0302020204030204" pitchFamily="34" charset="0"/>
                  <a:ea typeface="Calibri Light" panose="020F0302020204030204" pitchFamily="34" charset="0"/>
                  <a:cs typeface="Calibri Light" panose="020F0302020204030204" pitchFamily="34" charset="0"/>
                </a:rPr>
                <a:t> and Northern Cultural Tour.</a:t>
              </a:r>
            </a:p>
          </p:txBody>
        </p:sp>
        <p:sp>
          <p:nvSpPr>
            <p:cNvPr id="53" name="Text 21">
              <a:extLst>
                <a:ext uri="{FF2B5EF4-FFF2-40B4-BE49-F238E27FC236}">
                  <a16:creationId xmlns:a16="http://schemas.microsoft.com/office/drawing/2014/main" id="{A8D7B93E-B990-818E-43EE-A13BD1E07E1F}"/>
                </a:ext>
              </a:extLst>
            </p:cNvPr>
            <p:cNvSpPr/>
            <p:nvPr/>
          </p:nvSpPr>
          <p:spPr>
            <a:xfrm>
              <a:off x="771212" y="3726059"/>
              <a:ext cx="816996" cy="381290"/>
            </a:xfrm>
            <a:prstGeom prst="rect">
              <a:avLst/>
            </a:prstGeom>
            <a:solidFill>
              <a:schemeClr val="tx1">
                <a:lumMod val="65000"/>
                <a:lumOff val="35000"/>
              </a:schemeClr>
            </a:solidFill>
            <a:ln>
              <a:noFill/>
            </a:ln>
          </p:spPr>
          <p:txBody>
            <a:bodyPr wrap="square" lIns="381" tIns="381" rIns="381" bIns="381" rtlCol="0" anchor="ctr"/>
            <a:lstStyle/>
            <a:p>
              <a:pPr marL="119063">
                <a:buNone/>
              </a:pPr>
              <a:r>
                <a:rPr lang="en-US" sz="1100" b="1" dirty="0">
                  <a:solidFill>
                    <a:srgbClr val="FFFFFF"/>
                  </a:solidFill>
                  <a:latin typeface="Calibri Light" panose="020F0302020204030204" pitchFamily="34" charset="0"/>
                  <a:ea typeface="Calibri Light" panose="020F0302020204030204" pitchFamily="34" charset="0"/>
                  <a:cs typeface="Calibri Light" panose="020F0302020204030204" pitchFamily="34" charset="0"/>
                </a:rPr>
                <a:t>Discontinue Carefully</a:t>
              </a:r>
            </a:p>
          </p:txBody>
        </p:sp>
        <p:sp>
          <p:nvSpPr>
            <p:cNvPr id="54" name="TextBox 53">
              <a:extLst>
                <a:ext uri="{FF2B5EF4-FFF2-40B4-BE49-F238E27FC236}">
                  <a16:creationId xmlns:a16="http://schemas.microsoft.com/office/drawing/2014/main" id="{BC247D5E-59B0-1BEF-E233-B575BE7153D1}"/>
                </a:ext>
              </a:extLst>
            </p:cNvPr>
            <p:cNvSpPr txBox="1"/>
            <p:nvPr/>
          </p:nvSpPr>
          <p:spPr>
            <a:xfrm>
              <a:off x="1768438" y="3149699"/>
              <a:ext cx="2678394" cy="1534010"/>
            </a:xfrm>
            <a:prstGeom prst="rect">
              <a:avLst/>
            </a:prstGeom>
            <a:solidFill>
              <a:schemeClr val="tx1">
                <a:lumMod val="65000"/>
                <a:lumOff val="35000"/>
              </a:schemeClr>
            </a:solidFill>
          </p:spPr>
          <p:txBody>
            <a:bodyPr wrap="square">
              <a:spAutoFit/>
            </a:bodyPr>
            <a:lstStyle/>
            <a:p>
              <a:pPr marL="114300">
                <a:lnSpc>
                  <a:spcPts val="1900"/>
                </a:lnSpc>
                <a:spcBef>
                  <a:spcPts val="300"/>
                </a:spcBef>
                <a:spcAft>
                  <a:spcPts val="300"/>
                </a:spcAft>
              </a:pPr>
              <a:r>
                <a:rPr lang="en-US" sz="1200" b="1" dirty="0">
                  <a:solidFill>
                    <a:schemeClr val="bg1"/>
                  </a:solidFill>
                  <a:latin typeface="Calibri Light" panose="020F0302020204030204" pitchFamily="34" charset="0"/>
                  <a:ea typeface="Calibri Light" panose="020F0302020204030204" pitchFamily="34" charset="0"/>
                  <a:cs typeface="Calibri Light" panose="020F0302020204030204" pitchFamily="34" charset="0"/>
                </a:rPr>
                <a:t>I do not recommend discontinuing any tour based on revenue alone. Before making that decision, I would first assess each package’s profit margin, operating capacity and customer feedback.</a:t>
              </a:r>
            </a:p>
          </p:txBody>
        </p:sp>
      </p:grpSp>
      <p:grpSp>
        <p:nvGrpSpPr>
          <p:cNvPr id="72" name="Group 71">
            <a:extLst>
              <a:ext uri="{FF2B5EF4-FFF2-40B4-BE49-F238E27FC236}">
                <a16:creationId xmlns:a16="http://schemas.microsoft.com/office/drawing/2014/main" id="{A1FF3C4C-A776-78C2-8134-39DC67B26A74}"/>
              </a:ext>
            </a:extLst>
          </p:cNvPr>
          <p:cNvGrpSpPr/>
          <p:nvPr/>
        </p:nvGrpSpPr>
        <p:grpSpPr>
          <a:xfrm>
            <a:off x="5100827" y="936648"/>
            <a:ext cx="6319961" cy="5486661"/>
            <a:chOff x="5100827" y="936648"/>
            <a:chExt cx="6319961" cy="5486661"/>
          </a:xfrm>
        </p:grpSpPr>
        <p:sp>
          <p:nvSpPr>
            <p:cNvPr id="59" name="Text 21">
              <a:extLst>
                <a:ext uri="{FF2B5EF4-FFF2-40B4-BE49-F238E27FC236}">
                  <a16:creationId xmlns:a16="http://schemas.microsoft.com/office/drawing/2014/main" id="{4CFA836D-959E-689C-47EB-8EA2A2F46A6E}"/>
                </a:ext>
              </a:extLst>
            </p:cNvPr>
            <p:cNvSpPr/>
            <p:nvPr/>
          </p:nvSpPr>
          <p:spPr>
            <a:xfrm>
              <a:off x="5116333" y="936648"/>
              <a:ext cx="1855967" cy="418067"/>
            </a:xfrm>
            <a:prstGeom prst="rect">
              <a:avLst/>
            </a:prstGeom>
            <a:solidFill>
              <a:srgbClr val="495666"/>
            </a:solidFill>
            <a:ln>
              <a:noFill/>
            </a:ln>
          </p:spPr>
          <p:txBody>
            <a:bodyPr wrap="square" lIns="381" tIns="381" rIns="381" bIns="381" rtlCol="0" anchor="ctr"/>
            <a:lstStyle/>
            <a:p>
              <a:pPr marL="119063">
                <a:buNone/>
              </a:pPr>
              <a:r>
                <a:rPr lang="en-US" sz="1100" b="1" dirty="0">
                  <a:solidFill>
                    <a:srgbClr val="FFFFFF"/>
                  </a:solidFill>
                  <a:latin typeface="Calibri Light" panose="020F0302020204030204" pitchFamily="34" charset="0"/>
                  <a:ea typeface="Calibri Light" panose="020F0302020204030204" pitchFamily="34" charset="0"/>
                  <a:cs typeface="Calibri Light" panose="020F0302020204030204" pitchFamily="34" charset="0"/>
                </a:rPr>
                <a:t>Customer Loyalty Plan</a:t>
              </a:r>
            </a:p>
          </p:txBody>
        </p:sp>
        <p:sp>
          <p:nvSpPr>
            <p:cNvPr id="63" name="TextBox 62">
              <a:extLst>
                <a:ext uri="{FF2B5EF4-FFF2-40B4-BE49-F238E27FC236}">
                  <a16:creationId xmlns:a16="http://schemas.microsoft.com/office/drawing/2014/main" id="{87AF4722-853D-ABA1-1AD3-40B0C8A2E2B2}"/>
                </a:ext>
              </a:extLst>
            </p:cNvPr>
            <p:cNvSpPr txBox="1"/>
            <p:nvPr/>
          </p:nvSpPr>
          <p:spPr>
            <a:xfrm>
              <a:off x="5116333" y="1565603"/>
              <a:ext cx="6304455" cy="1461297"/>
            </a:xfrm>
            <a:prstGeom prst="rect">
              <a:avLst/>
            </a:prstGeom>
            <a:noFill/>
          </p:spPr>
          <p:txBody>
            <a:bodyPr wrap="square">
              <a:spAutoFit/>
            </a:bodyPr>
            <a:lstStyle/>
            <a:p>
              <a:pPr marL="342900" indent="-342900">
                <a:lnSpc>
                  <a:spcPts val="2400"/>
                </a:lnSpc>
                <a:spcBef>
                  <a:spcPts val="300"/>
                </a:spcBef>
                <a:spcAft>
                  <a:spcPts val="300"/>
                </a:spcAft>
                <a:buFont typeface="Wingdings" panose="05000000000000000000" pitchFamily="2" charset="2"/>
                <a:buChar char="§"/>
              </a:pPr>
              <a:r>
                <a:rPr lang="en-US"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Introduce points, referral rewards and next-booking discounts</a:t>
              </a:r>
            </a:p>
            <a:p>
              <a:pPr marL="342900" indent="-342900">
                <a:lnSpc>
                  <a:spcPts val="2400"/>
                </a:lnSpc>
                <a:spcBef>
                  <a:spcPts val="300"/>
                </a:spcBef>
                <a:spcAft>
                  <a:spcPts val="300"/>
                </a:spcAft>
                <a:buFont typeface="Wingdings" panose="05000000000000000000" pitchFamily="2" charset="2"/>
                <a:buChar char="§"/>
              </a:pPr>
              <a:r>
                <a:rPr lang="en-US"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Send post-tour thank-you messages and </a:t>
              </a:r>
              <a:r>
                <a:rPr lang="en-US" dirty="0" err="1">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personalised</a:t>
              </a:r>
              <a:r>
                <a:rPr lang="en-US"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 recommendations</a:t>
              </a:r>
            </a:p>
            <a:p>
              <a:pPr marL="342900" indent="-342900">
                <a:lnSpc>
                  <a:spcPts val="2400"/>
                </a:lnSpc>
                <a:spcBef>
                  <a:spcPts val="300"/>
                </a:spcBef>
                <a:spcAft>
                  <a:spcPts val="300"/>
                </a:spcAft>
                <a:buFont typeface="Wingdings" panose="05000000000000000000" pitchFamily="2" charset="2"/>
                <a:buChar char="§"/>
              </a:pPr>
              <a:r>
                <a:rPr lang="en-US"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Create exclusive benefits for private-tour customers</a:t>
              </a:r>
            </a:p>
          </p:txBody>
        </p:sp>
        <p:sp>
          <p:nvSpPr>
            <p:cNvPr id="69" name="Text 21">
              <a:extLst>
                <a:ext uri="{FF2B5EF4-FFF2-40B4-BE49-F238E27FC236}">
                  <a16:creationId xmlns:a16="http://schemas.microsoft.com/office/drawing/2014/main" id="{C2A48003-453A-D95E-561B-5F2E41DB6548}"/>
                </a:ext>
              </a:extLst>
            </p:cNvPr>
            <p:cNvSpPr/>
            <p:nvPr/>
          </p:nvSpPr>
          <p:spPr>
            <a:xfrm>
              <a:off x="5116333" y="3201578"/>
              <a:ext cx="1855967" cy="418067"/>
            </a:xfrm>
            <a:prstGeom prst="rect">
              <a:avLst/>
            </a:prstGeom>
            <a:solidFill>
              <a:srgbClr val="495666"/>
            </a:solidFill>
            <a:ln>
              <a:noFill/>
            </a:ln>
          </p:spPr>
          <p:txBody>
            <a:bodyPr wrap="square" lIns="381" tIns="381" rIns="381" bIns="381" rtlCol="0" anchor="ctr"/>
            <a:lstStyle/>
            <a:p>
              <a:pPr marL="119063">
                <a:buNone/>
              </a:pPr>
              <a:r>
                <a:rPr lang="en-US" sz="1100" b="1" dirty="0">
                  <a:solidFill>
                    <a:srgbClr val="FFFFFF"/>
                  </a:solidFill>
                  <a:latin typeface="Calibri Light" panose="020F0302020204030204" pitchFamily="34" charset="0"/>
                  <a:ea typeface="Calibri Light" panose="020F0302020204030204" pitchFamily="34" charset="0"/>
                  <a:cs typeface="Calibri Light" panose="020F0302020204030204" pitchFamily="34" charset="0"/>
                </a:rPr>
                <a:t>Data-Driven Marketing Plan</a:t>
              </a:r>
            </a:p>
          </p:txBody>
        </p:sp>
        <p:sp>
          <p:nvSpPr>
            <p:cNvPr id="71" name="TextBox 70">
              <a:extLst>
                <a:ext uri="{FF2B5EF4-FFF2-40B4-BE49-F238E27FC236}">
                  <a16:creationId xmlns:a16="http://schemas.microsoft.com/office/drawing/2014/main" id="{6FAF8B78-70A5-E0CB-592B-280355989CA8}"/>
                </a:ext>
              </a:extLst>
            </p:cNvPr>
            <p:cNvSpPr txBox="1"/>
            <p:nvPr/>
          </p:nvSpPr>
          <p:spPr>
            <a:xfrm>
              <a:off x="5100827" y="3730905"/>
              <a:ext cx="6304455" cy="2692404"/>
            </a:xfrm>
            <a:prstGeom prst="rect">
              <a:avLst/>
            </a:prstGeom>
            <a:noFill/>
          </p:spPr>
          <p:txBody>
            <a:bodyPr wrap="square">
              <a:spAutoFit/>
            </a:bodyPr>
            <a:lstStyle/>
            <a:p>
              <a:pPr marL="342900" indent="-342900">
                <a:lnSpc>
                  <a:spcPts val="2400"/>
                </a:lnSpc>
                <a:spcBef>
                  <a:spcPts val="300"/>
                </a:spcBef>
                <a:spcAft>
                  <a:spcPts val="300"/>
                </a:spcAft>
                <a:buFont typeface="Wingdings" panose="05000000000000000000" pitchFamily="2" charset="2"/>
                <a:buChar char="§"/>
              </a:pPr>
              <a:r>
                <a:rPr lang="en-US"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I recommend running targeted digital campaigns from August to November, with greater focus on September, the weakest booking month.</a:t>
              </a:r>
            </a:p>
            <a:p>
              <a:pPr marL="342900" indent="-342900">
                <a:lnSpc>
                  <a:spcPts val="2400"/>
                </a:lnSpc>
                <a:spcBef>
                  <a:spcPts val="300"/>
                </a:spcBef>
                <a:spcAft>
                  <a:spcPts val="300"/>
                </a:spcAft>
                <a:buFont typeface="Wingdings" panose="05000000000000000000" pitchFamily="2" charset="2"/>
                <a:buChar char="§"/>
              </a:pPr>
              <a:r>
                <a:rPr lang="en-US"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I would use customer booking history to send </a:t>
              </a:r>
              <a:r>
                <a:rPr lang="en-US" dirty="0" err="1">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personalised</a:t>
              </a:r>
              <a:r>
                <a:rPr lang="en-US"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 offers through email, social media and online advertising.</a:t>
              </a:r>
            </a:p>
            <a:p>
              <a:pPr marL="342900" indent="-342900">
                <a:lnSpc>
                  <a:spcPts val="2400"/>
                </a:lnSpc>
                <a:spcBef>
                  <a:spcPts val="300"/>
                </a:spcBef>
                <a:spcAft>
                  <a:spcPts val="300"/>
                </a:spcAft>
                <a:buFont typeface="Wingdings" panose="05000000000000000000" pitchFamily="2" charset="2"/>
                <a:buChar char="§"/>
              </a:pPr>
              <a:r>
                <a:rPr lang="en-US"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I recommend introducing limited early-booking, weekday and group promotions to increase demand without relying on heavy discounts.</a:t>
              </a:r>
            </a:p>
          </p:txBody>
        </p:sp>
      </p:grpSp>
    </p:spTree>
    <p:extLst>
      <p:ext uri="{BB962C8B-B14F-4D97-AF65-F5344CB8AC3E}">
        <p14:creationId xmlns:p14="http://schemas.microsoft.com/office/powerpoint/2010/main" val="42511946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9D5050-0E6C-51FF-84B5-ADF3FE940E34}"/>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000812EA-7279-33D9-0C4D-A6A1F8533EF0}"/>
              </a:ext>
            </a:extLst>
          </p:cNvPr>
          <p:cNvSpPr/>
          <p:nvPr/>
        </p:nvSpPr>
        <p:spPr>
          <a:xfrm flipH="1" flipV="1">
            <a:off x="0" y="3139440"/>
            <a:ext cx="12192000" cy="3718560"/>
          </a:xfrm>
          <a:prstGeom prst="rect">
            <a:avLst/>
          </a:prstGeom>
          <a:solidFill>
            <a:srgbClr val="4956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hidden="1">
            <a:extLst>
              <a:ext uri="{FF2B5EF4-FFF2-40B4-BE49-F238E27FC236}">
                <a16:creationId xmlns:a16="http://schemas.microsoft.com/office/drawing/2014/main" id="{DE3741E6-AAEC-5E7C-E77D-2A414BCE74C5}"/>
              </a:ext>
            </a:extLst>
          </p:cNvPr>
          <p:cNvSpPr/>
          <p:nvPr/>
        </p:nvSpPr>
        <p:spPr>
          <a:xfrm flipH="1" flipV="1">
            <a:off x="0" y="0"/>
            <a:ext cx="12192000" cy="3139440"/>
          </a:xfrm>
          <a:prstGeom prst="rect">
            <a:avLst/>
          </a:prstGeom>
          <a:solidFill>
            <a:srgbClr val="E1A9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AE1578EE-DC08-D6C2-2DA9-6BC17E1B9B7E}"/>
              </a:ext>
            </a:extLst>
          </p:cNvPr>
          <p:cNvSpPr/>
          <p:nvPr/>
        </p:nvSpPr>
        <p:spPr>
          <a:xfrm flipH="1" flipV="1">
            <a:off x="-15876" y="6489700"/>
            <a:ext cx="9871076" cy="7750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48528C67-81AF-DD45-1D84-1E1CD84BEB7D}"/>
              </a:ext>
            </a:extLst>
          </p:cNvPr>
          <p:cNvPicPr>
            <a:picLocks noChangeAspect="1"/>
          </p:cNvPicPr>
          <p:nvPr/>
        </p:nvPicPr>
        <p:blipFill>
          <a:blip r:embed="rId3">
            <a:alphaModFix amt="5000"/>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t="15701" b="1279"/>
          <a:stretch>
            <a:fillRect/>
          </a:stretch>
        </p:blipFill>
        <p:spPr>
          <a:xfrm>
            <a:off x="-15876" y="0"/>
            <a:ext cx="12207876" cy="6753933"/>
          </a:xfrm>
          <a:prstGeom prst="rect">
            <a:avLst/>
          </a:prstGeom>
        </p:spPr>
      </p:pic>
      <p:pic>
        <p:nvPicPr>
          <p:cNvPr id="21" name="Picture 20">
            <a:extLst>
              <a:ext uri="{FF2B5EF4-FFF2-40B4-BE49-F238E27FC236}">
                <a16:creationId xmlns:a16="http://schemas.microsoft.com/office/drawing/2014/main" id="{54EE9C8F-A97D-3359-14B4-B6BB570E141A}"/>
              </a:ext>
            </a:extLst>
          </p:cNvPr>
          <p:cNvPicPr>
            <a:picLocks noChangeAspect="1"/>
          </p:cNvPicPr>
          <p:nvPr/>
        </p:nvPicPr>
        <p:blipFill>
          <a:blip r:embed="rId5">
            <a:duotone>
              <a:prstClr val="black"/>
              <a:schemeClr val="accent1">
                <a:tint val="45000"/>
                <a:satMod val="400000"/>
              </a:schemeClr>
            </a:duotone>
            <a:alphaModFix amt="5000"/>
            <a:extLst>
              <a:ext uri="{28A0092B-C50C-407E-A947-70E740481C1C}">
                <a14:useLocalDpi xmlns:a14="http://schemas.microsoft.com/office/drawing/2010/main" val="0"/>
              </a:ext>
            </a:extLst>
          </a:blip>
          <a:srcRect t="15062" b="46347"/>
          <a:stretch>
            <a:fillRect/>
          </a:stretch>
        </p:blipFill>
        <p:spPr>
          <a:xfrm>
            <a:off x="-7938" y="0"/>
            <a:ext cx="12207876" cy="3139441"/>
          </a:xfrm>
          <a:prstGeom prst="rect">
            <a:avLst/>
          </a:prstGeom>
        </p:spPr>
      </p:pic>
      <p:sp>
        <p:nvSpPr>
          <p:cNvPr id="27" name="Text 1">
            <a:extLst>
              <a:ext uri="{FF2B5EF4-FFF2-40B4-BE49-F238E27FC236}">
                <a16:creationId xmlns:a16="http://schemas.microsoft.com/office/drawing/2014/main" id="{D0B3A83A-59A3-1344-83DE-4B0B0002ED0A}"/>
              </a:ext>
            </a:extLst>
          </p:cNvPr>
          <p:cNvSpPr>
            <a:spLocks noGrp="1" noRot="1" noMove="1" noResize="1" noEditPoints="1" noAdjustHandles="1" noChangeArrowheads="1" noChangeShapeType="1"/>
          </p:cNvSpPr>
          <p:nvPr/>
        </p:nvSpPr>
        <p:spPr>
          <a:xfrm>
            <a:off x="9844490" y="6278880"/>
            <a:ext cx="2288370" cy="475053"/>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2000" b="1" i="1" u="none" strike="noStrike" kern="0" cap="none" spc="0" normalizeH="0" noProof="0" dirty="0">
                <a:ln>
                  <a:noFill/>
                </a:ln>
                <a:solidFill>
                  <a:schemeClr val="bg1"/>
                </a:solidFill>
                <a:effectLst/>
                <a:uLnTx/>
                <a:uFillTx/>
                <a:latin typeface="Calibri Light" panose="020F0302020204030204" pitchFamily="34" charset="0"/>
                <a:ea typeface="Calibri Light" panose="020F0302020204030204" pitchFamily="34" charset="0"/>
                <a:cs typeface="Calibri Light" panose="020F0302020204030204" pitchFamily="34" charset="0"/>
              </a:rPr>
              <a:t>Solomon Gyamfi</a:t>
            </a:r>
          </a:p>
        </p:txBody>
      </p:sp>
      <p:sp>
        <p:nvSpPr>
          <p:cNvPr id="4" name="TextBox 3">
            <a:extLst>
              <a:ext uri="{FF2B5EF4-FFF2-40B4-BE49-F238E27FC236}">
                <a16:creationId xmlns:a16="http://schemas.microsoft.com/office/drawing/2014/main" id="{B26A9703-B090-2F90-9797-2F0A1F68AE9C}"/>
              </a:ext>
            </a:extLst>
          </p:cNvPr>
          <p:cNvSpPr txBox="1"/>
          <p:nvPr/>
        </p:nvSpPr>
        <p:spPr>
          <a:xfrm>
            <a:off x="1574800" y="3896448"/>
            <a:ext cx="8541871" cy="1877437"/>
          </a:xfrm>
          <a:prstGeom prst="rect">
            <a:avLst/>
          </a:prstGeom>
          <a:noFill/>
        </p:spPr>
        <p:txBody>
          <a:bodyPr wrap="square" rtlCol="0">
            <a:spAutoFit/>
          </a:bodyPr>
          <a:lstStyle/>
          <a:p>
            <a:pPr algn="ctr"/>
            <a:r>
              <a:rPr lang="en-US" sz="11600" b="1" dirty="0">
                <a:solidFill>
                  <a:schemeClr val="bg1"/>
                </a:solidFill>
                <a:latin typeface="Dreaming Outloud Script Pro" panose="020F0502020204030204" pitchFamily="66" charset="0"/>
                <a:ea typeface="Calibri Light" panose="020F0302020204030204" pitchFamily="34" charset="0"/>
                <a:cs typeface="Dreaming Outloud Script Pro" panose="020F0502020204030204" pitchFamily="66" charset="0"/>
              </a:rPr>
              <a:t>Thank You</a:t>
            </a:r>
          </a:p>
        </p:txBody>
      </p:sp>
      <p:sp>
        <p:nvSpPr>
          <p:cNvPr id="9" name="TextBox 8">
            <a:extLst>
              <a:ext uri="{FF2B5EF4-FFF2-40B4-BE49-F238E27FC236}">
                <a16:creationId xmlns:a16="http://schemas.microsoft.com/office/drawing/2014/main" id="{F9299F5F-9AD2-806B-B5FE-BBDB8ABAA4BD}"/>
              </a:ext>
            </a:extLst>
          </p:cNvPr>
          <p:cNvSpPr txBox="1"/>
          <p:nvPr/>
        </p:nvSpPr>
        <p:spPr>
          <a:xfrm>
            <a:off x="898959" y="1248296"/>
            <a:ext cx="10543741" cy="1456681"/>
          </a:xfrm>
          <a:prstGeom prst="rect">
            <a:avLst/>
          </a:prstGeom>
          <a:noFill/>
        </p:spPr>
        <p:txBody>
          <a:bodyPr wrap="square">
            <a:spAutoFit/>
          </a:bodyPr>
          <a:lstStyle/>
          <a:p>
            <a:pPr>
              <a:lnSpc>
                <a:spcPts val="3600"/>
              </a:lnSpc>
              <a:spcBef>
                <a:spcPts val="300"/>
              </a:spcBef>
              <a:spcAft>
                <a:spcPts val="300"/>
              </a:spcAft>
            </a:pPr>
            <a:r>
              <a:rPr lang="en-US" sz="2800" b="1" dirty="0">
                <a:solidFill>
                  <a:srgbClr val="495666"/>
                </a:solidFill>
                <a:latin typeface="Calibri Light" panose="020F0302020204030204" pitchFamily="34" charset="0"/>
                <a:ea typeface="Calibri Light" panose="020F0302020204030204" pitchFamily="34" charset="0"/>
                <a:cs typeface="Calibri Light" panose="020F0302020204030204" pitchFamily="34" charset="0"/>
              </a:rPr>
              <a:t>Ghana Adventures can grow by protecting high-value tours, improving lower-value packages, and using digital channels plus loyalty offers to strengthen off-season demand.</a:t>
            </a:r>
          </a:p>
        </p:txBody>
      </p:sp>
    </p:spTree>
    <p:extLst>
      <p:ext uri="{BB962C8B-B14F-4D97-AF65-F5344CB8AC3E}">
        <p14:creationId xmlns:p14="http://schemas.microsoft.com/office/powerpoint/2010/main" val="88781672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661</TotalTime>
  <Words>552</Words>
  <Application>Microsoft Office PowerPoint</Application>
  <PresentationFormat>Widescreen</PresentationFormat>
  <Paragraphs>66</Paragraphs>
  <Slides>8</Slides>
  <Notes>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vt:i4>
      </vt:variant>
    </vt:vector>
  </HeadingPairs>
  <TitlesOfParts>
    <vt:vector size="15" baseType="lpstr">
      <vt:lpstr>Aptos</vt:lpstr>
      <vt:lpstr>Aptos Display</vt:lpstr>
      <vt:lpstr>Arial</vt:lpstr>
      <vt:lpstr>Calibri Light</vt:lpstr>
      <vt:lpstr>Dreaming Outloud Script Pro</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Solomon Gyamfi</dc:creator>
  <cp:lastModifiedBy>Solomon Gyamfi</cp:lastModifiedBy>
  <cp:revision>16</cp:revision>
  <dcterms:created xsi:type="dcterms:W3CDTF">2026-07-16T12:30:31Z</dcterms:created>
  <dcterms:modified xsi:type="dcterms:W3CDTF">2026-08-28T12:17:12Z</dcterms:modified>
</cp:coreProperties>
</file>