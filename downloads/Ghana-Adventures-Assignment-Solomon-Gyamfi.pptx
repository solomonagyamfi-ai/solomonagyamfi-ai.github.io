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ppt/notesSlides/notesSlide3.xml" ContentType="application/vnd.openxmlformats-officedocument.presentationml.notesSlide+xml"/>
  <Override PartName="/ppt/webextensions/webextension2.xml" ContentType="application/vnd.ms-office.webextension+xml"/>
  <Override PartName="/ppt/notesSlides/notesSlide4.xml" ContentType="application/vnd.openxmlformats-officedocument.presentationml.notesSlide+xml"/>
  <Override PartName="/ppt/webextensions/webextension3.xml" ContentType="application/vnd.ms-office.webextension+xml"/>
  <Override PartName="/ppt/notesSlides/notesSlide5.xml" ContentType="application/vnd.openxmlformats-officedocument.presentationml.notesSlide+xml"/>
  <Override PartName="/ppt/webextensions/webextension4.xml" ContentType="application/vnd.ms-office.webextension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8" r:id="rId4"/>
    <p:sldId id="264" r:id="rId5"/>
    <p:sldId id="265" r:id="rId6"/>
    <p:sldId id="266" r:id="rId7"/>
    <p:sldId id="267" r:id="rId8"/>
    <p:sldId id="26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5666"/>
    <a:srgbClr val="E1A9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773" autoAdjust="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95256-41B2-49CE-B0AF-FD027AAE6564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5A9CE-1FE7-4C76-B978-F53BCF772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5A9CE-1FE7-4C76-B978-F53BCF772E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3917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A32B76-A7E4-43F7-AF55-408FD2ED4A7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309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increase bookings during this period, Ghana Adventures should run targeted digital promotions, offer early-booking and midweek discounts, create family and group packages, and bundle tours with transport, meals, accommodation, or photography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5A9CE-1FE7-4C76-B978-F53BCF772E9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284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FD29C-90D0-A31B-13C8-C642DE415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1B0073-CDB3-7F3B-9168-E2A370EFC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AFE14-2EF8-E3E5-E05D-8E77DF4F2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increase bookings during this period, Ghana Adventures should run targeted digital promotions, offer early-booking and midweek discounts, create family and group packages, and bundle tours with transport, meals, accommodation, or photography services.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69DDA-2FBC-B400-D664-F40F779E86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5A9CE-1FE7-4C76-B978-F53BCF772E9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735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11CFA-EF3E-AF07-122D-A357315AC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A6F066-A31F-FFEF-13D6-740351D46C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FB18BB-CC97-05F4-26B5-7F5F3CA2C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increase bookings during this period, Ghana Adventures should run targeted digital promotions, offer early-booking and midweek discounts, create family and group packages, and bundle tours with transport, meals, accommodation, or photography services.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3EF81-1A8A-8081-1127-E45546FD49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5A9CE-1FE7-4C76-B978-F53BCF772E9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5705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0FA45-D87F-AEF4-699E-9191FA09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EA8E98-CEEF-E5ED-D78A-5CC3EDDD8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AC2E74-47E0-21C4-8552-BCCBCBCC8F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4173C-D5DE-25A2-9C28-AED54D1939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5A9CE-1FE7-4C76-B978-F53BCF772E9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267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838DE-1EFA-E5EB-F342-66B26D7CF0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6F7E47-AA75-888E-5A67-440C334010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D45EB9-0164-AC8A-34D7-4751493BB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9D8E9-A6BA-3D7F-C787-E4C093EBA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889D80-3280-90E4-F5CE-32FF344A7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773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BF75-AF10-228F-C605-1018733A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CCF06-CD61-2993-1953-1C87BF601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4C1161-59BB-CE18-5DC8-DCDAF18B1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379AE-FA07-21FA-9056-9DFF54D2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D6A01-225F-F509-5971-5E3F85316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78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D7AB1-FB31-0CA7-853A-AE1526B2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0C27CE-84F2-DA18-9146-829CEE3198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AFF5F9-643F-AAFD-242B-1750A1D51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AE654-765D-61D7-5115-E97B8A2AC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A87BCF-9F51-8CF8-A421-6C3BA19D7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37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773A-E442-62A7-4450-A5EDD2E13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DE536-E6E2-823A-5C1E-D430DBD01B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F79208-1EFA-9FD9-B6EE-02044B3394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CC13C6-33FA-F0DA-508A-687A9A105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C2930-16E4-814B-91E2-43A2EE4CF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885631-24B5-85AA-E79F-D06E9001B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74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493F8-5595-D337-280B-C62B2F80F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8F7D3-E5CE-FF57-2F9B-8E08D2262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0179E-F6A6-163C-EB29-0B4141A33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E3A7F2-F3CA-E19B-42D0-9F18471019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EC3DE6-D54A-5457-21F5-FA51DD92C6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8FBBFB-AAA9-E1E4-9CF3-DB3A5205E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7A9BE1-D3EF-F017-488E-A3C01BABD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B401C1-4CD4-4E41-2051-86FE58B24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338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47D16-9ECD-41A1-428F-12ED240A9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50F71E-7902-AD50-A0F5-95CD3148B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ED07C7-684E-532C-9B49-6CE0E682A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C3E222-9AC1-EAD4-221A-36656AF70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39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26020F-C0F0-89F8-CFE5-7B03F1968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82F86B-BD2E-D8CA-33BE-4D63BF2BF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FBABF-669A-A6CC-BF7B-13E7FDDD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464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CE3C9-71C3-F6A9-FA16-5C5C640CF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7F4F0-216B-E857-8D48-A8C297AEE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215F3A-0166-218E-1C23-219E47FF84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D746CD-6565-9192-47C2-3C95498A1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BD9233-5303-642D-C15A-610350EFF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DD02F3-A8FB-E7D7-D0E2-121A69F37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1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C0C58-C9F7-31E8-70F9-9F7C3C706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E70A12-F3D7-6F3B-3BE9-2457E5B61B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E6377E-4454-34EF-B473-45EB7D75C0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690E3-1545-8EF4-3381-BFCA11D22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1953D-0999-C6F0-1D7B-52554F13D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85AE3-AFC5-4160-677E-516478DFA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699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A6587-67FD-47FF-7224-2047BC6C5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BF0AD-28FC-52FA-2046-D97FE75DA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6037A-A10D-811E-971C-C37DEC58F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FA33C-9E16-98C6-5E96-9BFD4EB4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8A0034-2DC8-4D1E-F97B-F0D408468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74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76899F-924E-8AC9-D670-DDBD6EE191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CF038-5979-8E81-46C5-5C86CADC51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306C3-CF5F-283A-B0C9-44E9C7739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64B94-D3B4-8C70-7ACD-99F4B5E10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95866-074D-7907-CD5C-2F83AE358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348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AFB3EA-061B-DB32-2027-2DFD64B58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9CFE9-E6D7-4A17-EFE1-5FCCE93AAD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4CE8B-FDC8-903B-1007-AA94B9A149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6F0B4A-DA1D-49B7-841A-6057E317F7A7}" type="datetimeFigureOut">
              <a:rPr lang="en-US" smtClean="0"/>
              <a:t>17-Jul-26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5CB4B-F449-8421-4E14-2DB51271B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B556C1-A5AF-6D7C-15C0-C4A1987F93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5BCA9-BE13-4474-B180-54EA452BB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631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microsoft.com/office/2007/relationships/hdphoto" Target="../media/hdphoto3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897D6B7-B507-B0BD-9896-DBC85319E49E}"/>
              </a:ext>
            </a:extLst>
          </p:cNvPr>
          <p:cNvSpPr/>
          <p:nvPr/>
        </p:nvSpPr>
        <p:spPr>
          <a:xfrm flipH="1" flipV="1">
            <a:off x="0" y="3139440"/>
            <a:ext cx="12192000" cy="3718560"/>
          </a:xfrm>
          <a:prstGeom prst="rect">
            <a:avLst/>
          </a:prstGeom>
          <a:solidFill>
            <a:srgbClr val="4956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75FE01-0C3C-8F4D-2D2F-371AF12EC3B3}"/>
              </a:ext>
            </a:extLst>
          </p:cNvPr>
          <p:cNvSpPr/>
          <p:nvPr/>
        </p:nvSpPr>
        <p:spPr>
          <a:xfrm flipH="1" flipV="1">
            <a:off x="-15876" y="6489700"/>
            <a:ext cx="9871076" cy="775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A8C99414-669F-9A00-3C5E-0662A8E61F02}"/>
              </a:ext>
            </a:extLst>
          </p:cNvPr>
          <p:cNvSpPr/>
          <p:nvPr/>
        </p:nvSpPr>
        <p:spPr>
          <a:xfrm>
            <a:off x="3698774" y="4576314"/>
            <a:ext cx="4794453" cy="475053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0" normalizeH="0" noProof="0" dirty="0">
                <a:ln>
                  <a:noFill/>
                </a:ln>
                <a:solidFill>
                  <a:srgbClr val="495666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Booking &amp; Customer Analysis</a:t>
            </a:r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F2161978-87AF-6FE9-D7BB-26EE403AC87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844490" y="6278880"/>
            <a:ext cx="2288370" cy="475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1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Solomon Gyamfi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9E30976-5DF6-D6E4-8F19-4529A29E00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59386"/>
          <a:stretch>
            <a:fillRect/>
          </a:stretch>
        </p:blipFill>
        <p:spPr>
          <a:xfrm>
            <a:off x="-15876" y="3139440"/>
            <a:ext cx="12207876" cy="371856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6A4C54-30F3-EF04-4966-80715C14400F}"/>
              </a:ext>
            </a:extLst>
          </p:cNvPr>
          <p:cNvSpPr/>
          <p:nvPr/>
        </p:nvSpPr>
        <p:spPr>
          <a:xfrm flipH="1" flipV="1">
            <a:off x="0" y="0"/>
            <a:ext cx="12192000" cy="3139440"/>
          </a:xfrm>
          <a:prstGeom prst="rect">
            <a:avLst/>
          </a:prstGeom>
          <a:solidFill>
            <a:srgbClr val="E1A9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AC0506-A33F-C848-9D62-C6A914AA95D4}"/>
              </a:ext>
            </a:extLst>
          </p:cNvPr>
          <p:cNvSpPr txBox="1"/>
          <p:nvPr/>
        </p:nvSpPr>
        <p:spPr>
          <a:xfrm>
            <a:off x="1203325" y="3429000"/>
            <a:ext cx="978535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7200" b="1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Ghana </a:t>
            </a:r>
            <a:r>
              <a:rPr lang="en-US" sz="7200" b="1" dirty="0">
                <a:solidFill>
                  <a:srgbClr val="E1A918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Adventures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9B4707C-5A97-09A5-6ABE-7F7EEB51903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5097" b="40614"/>
          <a:stretch>
            <a:fillRect/>
          </a:stretch>
        </p:blipFill>
        <p:spPr>
          <a:xfrm>
            <a:off x="-15876" y="0"/>
            <a:ext cx="12207876" cy="313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584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171DE0D-78F3-897C-DD0D-E2614DBBB4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58921" y="0"/>
            <a:ext cx="9533080" cy="6858000"/>
          </a:xfrm>
          <a:prstGeom prst="roundRect">
            <a:avLst>
              <a:gd name="adj" fmla="val 0"/>
            </a:avLst>
          </a:prstGeom>
          <a:solidFill>
            <a:srgbClr val="4956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000" b="1" i="1">
                <a:solidFill>
                  <a:srgbClr val="05338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endParaRPr lang="en-US" sz="2000" b="1">
              <a:solidFill>
                <a:srgbClr val="053385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77B7076-4A96-E78E-8543-3781663A0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53" b="5439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4EF127-928B-4882-3FDE-31EC0F2986E8}"/>
              </a:ext>
            </a:extLst>
          </p:cNvPr>
          <p:cNvSpPr txBox="1"/>
          <p:nvPr/>
        </p:nvSpPr>
        <p:spPr>
          <a:xfrm rot="16200000">
            <a:off x="-1856599" y="2503654"/>
            <a:ext cx="6669743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600" b="1" dirty="0">
                <a:solidFill>
                  <a:srgbClr val="E1A918"/>
                </a:solidFill>
                <a:latin typeface="Dreaming Outloud Script Pro" panose="020F0502020204030204" pitchFamily="66" charset="0"/>
                <a:ea typeface="Calibri Light" panose="020F0302020204030204" pitchFamily="34" charset="0"/>
                <a:cs typeface="Dreaming Outloud Script Pro" panose="020F0502020204030204" pitchFamily="66" charset="0"/>
              </a:rPr>
              <a:t>Agenda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4A844BE-1311-6BBD-E8D6-D854BBEA14E3}"/>
              </a:ext>
            </a:extLst>
          </p:cNvPr>
          <p:cNvGrpSpPr/>
          <p:nvPr/>
        </p:nvGrpSpPr>
        <p:grpSpPr>
          <a:xfrm>
            <a:off x="3404577" y="1003003"/>
            <a:ext cx="6094828" cy="572965"/>
            <a:chOff x="3404577" y="1003003"/>
            <a:chExt cx="6094828" cy="572965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B0930BE-A34A-2B41-7FC9-E22394618991}"/>
                </a:ext>
              </a:extLst>
            </p:cNvPr>
            <p:cNvSpPr/>
            <p:nvPr/>
          </p:nvSpPr>
          <p:spPr>
            <a:xfrm>
              <a:off x="3404577" y="1003003"/>
              <a:ext cx="572963" cy="57296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srgbClr val="E1A918"/>
                  </a:solidFill>
                  <a:effectLst/>
                  <a:uLnTx/>
                  <a:uFillTx/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9869E20-F875-1EEF-3533-5C3223108A15}"/>
                </a:ext>
              </a:extLst>
            </p:cNvPr>
            <p:cNvSpPr txBox="1"/>
            <p:nvPr/>
          </p:nvSpPr>
          <p:spPr>
            <a:xfrm>
              <a:off x="4219469" y="1027875"/>
              <a:ext cx="52799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Executive Performance Overview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6282EE0-E67A-2314-A4C6-D8D70778B5B0}"/>
              </a:ext>
            </a:extLst>
          </p:cNvPr>
          <p:cNvGrpSpPr/>
          <p:nvPr/>
        </p:nvGrpSpPr>
        <p:grpSpPr>
          <a:xfrm>
            <a:off x="3404577" y="2006631"/>
            <a:ext cx="5790223" cy="584775"/>
            <a:chOff x="3556977" y="1137062"/>
            <a:chExt cx="5790223" cy="584775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807D994-DBFC-A017-BC08-4DBECDD1089B}"/>
                </a:ext>
              </a:extLst>
            </p:cNvPr>
            <p:cNvSpPr/>
            <p:nvPr/>
          </p:nvSpPr>
          <p:spPr>
            <a:xfrm>
              <a:off x="3556977" y="1142967"/>
              <a:ext cx="572963" cy="57296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3200" b="1" dirty="0">
                  <a:solidFill>
                    <a:srgbClr val="E1A918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2</a:t>
              </a:r>
              <a:endPara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1A918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F773CB6-F966-1B30-E39B-FBDC45B5D46C}"/>
                </a:ext>
              </a:extLst>
            </p:cNvPr>
            <p:cNvSpPr txBox="1"/>
            <p:nvPr/>
          </p:nvSpPr>
          <p:spPr>
            <a:xfrm>
              <a:off x="4371869" y="1137062"/>
              <a:ext cx="49753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Seasons &amp; Tour Packages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E02FB47-9E3F-8D6B-3311-A1C58FD8F1AF}"/>
              </a:ext>
            </a:extLst>
          </p:cNvPr>
          <p:cNvGrpSpPr/>
          <p:nvPr/>
        </p:nvGrpSpPr>
        <p:grpSpPr>
          <a:xfrm>
            <a:off x="3404577" y="3046942"/>
            <a:ext cx="7912897" cy="584775"/>
            <a:chOff x="3556977" y="1137062"/>
            <a:chExt cx="7912897" cy="584775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BF058810-F9A3-B78F-4EB0-88D02035CBD7}"/>
                </a:ext>
              </a:extLst>
            </p:cNvPr>
            <p:cNvSpPr/>
            <p:nvPr/>
          </p:nvSpPr>
          <p:spPr>
            <a:xfrm>
              <a:off x="3556977" y="1142967"/>
              <a:ext cx="572963" cy="57296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srgbClr val="E1A918"/>
                  </a:solidFill>
                  <a:effectLst/>
                  <a:uLnTx/>
                  <a:uFillTx/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472B2B3-9074-CE8C-FEE6-1F2366578891}"/>
                </a:ext>
              </a:extLst>
            </p:cNvPr>
            <p:cNvSpPr txBox="1"/>
            <p:nvPr/>
          </p:nvSpPr>
          <p:spPr>
            <a:xfrm>
              <a:off x="4371869" y="1137062"/>
              <a:ext cx="709800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Customer Retention and Spending Patterns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12E615-1D26-B355-6DAB-CC5A5F455682}"/>
              </a:ext>
            </a:extLst>
          </p:cNvPr>
          <p:cNvGrpSpPr/>
          <p:nvPr/>
        </p:nvGrpSpPr>
        <p:grpSpPr>
          <a:xfrm>
            <a:off x="3404577" y="4081348"/>
            <a:ext cx="7912897" cy="584775"/>
            <a:chOff x="3556977" y="1137062"/>
            <a:chExt cx="7912897" cy="584775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85CFD9BC-E0F6-D341-8491-D0BCED17A696}"/>
                </a:ext>
              </a:extLst>
            </p:cNvPr>
            <p:cNvSpPr/>
            <p:nvPr/>
          </p:nvSpPr>
          <p:spPr>
            <a:xfrm>
              <a:off x="3556977" y="1142967"/>
              <a:ext cx="572963" cy="57296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srgbClr val="E1A918"/>
                  </a:solidFill>
                  <a:effectLst/>
                  <a:uLnTx/>
                  <a:uFillTx/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8CD4473-618A-3F7E-0CD5-E1FA14ED8AA0}"/>
                </a:ext>
              </a:extLst>
            </p:cNvPr>
            <p:cNvSpPr txBox="1"/>
            <p:nvPr/>
          </p:nvSpPr>
          <p:spPr>
            <a:xfrm>
              <a:off x="4371869" y="1137062"/>
              <a:ext cx="709800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Strategies to Boost Off-Season Bookings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E24D0FF-352C-A528-738E-CDB3BD824186}"/>
              </a:ext>
            </a:extLst>
          </p:cNvPr>
          <p:cNvGrpSpPr/>
          <p:nvPr/>
        </p:nvGrpSpPr>
        <p:grpSpPr>
          <a:xfrm>
            <a:off x="3404577" y="5127564"/>
            <a:ext cx="7912897" cy="584775"/>
            <a:chOff x="3556977" y="1137062"/>
            <a:chExt cx="7912897" cy="584775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AFDF5BF2-00F0-09EB-3E77-38A8C13FE90D}"/>
                </a:ext>
              </a:extLst>
            </p:cNvPr>
            <p:cNvSpPr/>
            <p:nvPr/>
          </p:nvSpPr>
          <p:spPr>
            <a:xfrm>
              <a:off x="3556977" y="1142967"/>
              <a:ext cx="572963" cy="57296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3200" b="1" dirty="0">
                  <a:solidFill>
                    <a:srgbClr val="E1A918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</a:t>
              </a:r>
              <a:endPara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1A918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6845047-393B-4434-F24A-32C65638FB9D}"/>
                </a:ext>
              </a:extLst>
            </p:cNvPr>
            <p:cNvSpPr txBox="1"/>
            <p:nvPr/>
          </p:nvSpPr>
          <p:spPr>
            <a:xfrm>
              <a:off x="4371869" y="1137062"/>
              <a:ext cx="709800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Business Insights &amp; Recommendations</a:t>
              </a:r>
            </a:p>
          </p:txBody>
        </p:sp>
      </p:grp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B0C1E97-025E-3BD2-E220-C7A7B20FF935}"/>
              </a:ext>
            </a:extLst>
          </p:cNvPr>
          <p:cNvCxnSpPr/>
          <p:nvPr/>
        </p:nvCxnSpPr>
        <p:spPr>
          <a:xfrm>
            <a:off x="3687235" y="1642533"/>
            <a:ext cx="0" cy="292100"/>
          </a:xfrm>
          <a:prstGeom prst="line">
            <a:avLst/>
          </a:prstGeom>
          <a:ln w="5715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D7F58AA-DE80-34E6-6BBC-AAB59BDF0C27}"/>
              </a:ext>
            </a:extLst>
          </p:cNvPr>
          <p:cNvCxnSpPr/>
          <p:nvPr/>
        </p:nvCxnSpPr>
        <p:spPr>
          <a:xfrm>
            <a:off x="3687235" y="2658533"/>
            <a:ext cx="0" cy="292100"/>
          </a:xfrm>
          <a:prstGeom prst="line">
            <a:avLst/>
          </a:prstGeom>
          <a:ln w="5715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FE69E6D-642F-286D-1B47-C8CDB8112B67}"/>
              </a:ext>
            </a:extLst>
          </p:cNvPr>
          <p:cNvCxnSpPr/>
          <p:nvPr/>
        </p:nvCxnSpPr>
        <p:spPr>
          <a:xfrm>
            <a:off x="3687235" y="3708399"/>
            <a:ext cx="0" cy="292100"/>
          </a:xfrm>
          <a:prstGeom prst="line">
            <a:avLst/>
          </a:prstGeom>
          <a:ln w="5715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E47FC81-0900-ABB9-D9BF-066C283F46FE}"/>
              </a:ext>
            </a:extLst>
          </p:cNvPr>
          <p:cNvCxnSpPr/>
          <p:nvPr/>
        </p:nvCxnSpPr>
        <p:spPr>
          <a:xfrm>
            <a:off x="3691470" y="4741333"/>
            <a:ext cx="0" cy="292100"/>
          </a:xfrm>
          <a:prstGeom prst="line">
            <a:avLst/>
          </a:prstGeom>
          <a:ln w="5715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0319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2">
            <a:extLst>
              <a:ext uri="{FF2B5EF4-FFF2-40B4-BE49-F238E27FC236}">
                <a16:creationId xmlns:a16="http://schemas.microsoft.com/office/drawing/2014/main" id="{1A9BC654-36E5-C7AD-45A9-A811DD477FE9}"/>
              </a:ext>
            </a:extLst>
          </p:cNvPr>
          <p:cNvSpPr/>
          <p:nvPr/>
        </p:nvSpPr>
        <p:spPr>
          <a:xfrm rot="16200000">
            <a:off x="-2327368" y="2927603"/>
            <a:ext cx="5908767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4324A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Executive Performance Overview</a:t>
            </a: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 1" title="Microsoft Power BI">
                <a:extLst>
                  <a:ext uri="{FF2B5EF4-FFF2-40B4-BE49-F238E27FC236}">
                    <a16:creationId xmlns:a16="http://schemas.microsoft.com/office/drawing/2014/main" id="{417AE693-AECE-27CD-3D94-F6146F13B32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333500" y="571499"/>
              <a:ext cx="9525000" cy="5715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2" name="Add-in 1" title="Microsoft Power BI">
                <a:extLst>
                  <a:ext uri="{FF2B5EF4-FFF2-40B4-BE49-F238E27FC236}">
                    <a16:creationId xmlns:a16="http://schemas.microsoft.com/office/drawing/2014/main" id="{417AE693-AECE-27CD-3D94-F6146F13B3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500" y="571499"/>
                <a:ext cx="9525000" cy="5715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08808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17" name="Add-in 16" title="Microsoft Power BI">
                <a:extLst>
                  <a:ext uri="{FF2B5EF4-FFF2-40B4-BE49-F238E27FC236}">
                    <a16:creationId xmlns:a16="http://schemas.microsoft.com/office/drawing/2014/main" id="{C04A3B51-27DA-D313-A1E9-841C9E9CF6CD}"/>
                  </a:ext>
                </a:extLst>
              </p:cNvPr>
              <p:cNvGraphicFramePr>
                <a:graphicFrameLocks noGrp="1" noDrilldown="1" noMove="1" noResize="1"/>
              </p:cNvGraphicFramePr>
              <p:nvPr>
                <p:extLst>
                  <p:ext uri="{D42A27DB-BD31-4B8C-83A1-F6EECF244321}">
                    <p14:modId xmlns:p14="http://schemas.microsoft.com/office/powerpoint/2010/main" val="2688912104"/>
                  </p:ext>
                </p:extLst>
              </p:nvPr>
            </p:nvGraphicFramePr>
            <p:xfrm>
              <a:off x="523694" y="937982"/>
              <a:ext cx="9525000" cy="5715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17" name="Add-in 16" title="Microsoft Power BI">
                <a:extLst>
                  <a:ext uri="{FF2B5EF4-FFF2-40B4-BE49-F238E27FC236}">
                    <a16:creationId xmlns:a16="http://schemas.microsoft.com/office/drawing/2014/main" id="{C04A3B51-27DA-D313-A1E9-841C9E9CF6C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3694" y="937982"/>
                <a:ext cx="9525000" cy="5715000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CA95E7F5-104E-D972-3619-3EABBE2F7B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6241774"/>
            <a:ext cx="12192000" cy="6162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72A431A-B798-F2AA-F817-9F1AD810C38D}"/>
              </a:ext>
            </a:extLst>
          </p:cNvPr>
          <p:cNvGrpSpPr/>
          <p:nvPr/>
        </p:nvGrpSpPr>
        <p:grpSpPr>
          <a:xfrm>
            <a:off x="8283550" y="1328280"/>
            <a:ext cx="3384756" cy="4201439"/>
            <a:chOff x="8790446" y="1619598"/>
            <a:chExt cx="3024371" cy="4201439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307F9FC-2500-5A44-05E6-BCFD4B61EF31}"/>
                </a:ext>
              </a:extLst>
            </p:cNvPr>
            <p:cNvGrpSpPr/>
            <p:nvPr/>
          </p:nvGrpSpPr>
          <p:grpSpPr>
            <a:xfrm>
              <a:off x="8790447" y="3399182"/>
              <a:ext cx="3024370" cy="2421855"/>
              <a:chOff x="8790447" y="3399182"/>
              <a:chExt cx="3024370" cy="2421855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B174C40-E689-86CB-830E-FDE95E907218}"/>
                  </a:ext>
                </a:extLst>
              </p:cNvPr>
              <p:cNvSpPr txBox="1"/>
              <p:nvPr/>
            </p:nvSpPr>
            <p:spPr>
              <a:xfrm>
                <a:off x="8790448" y="3770219"/>
                <a:ext cx="3024369" cy="20508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2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6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Safari Experience </a:t>
                </a:r>
                <a:r>
                  <a:rPr lang="en-US" sz="16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was the best-selling tour package by revenue</a:t>
                </a:r>
                <a:r>
                  <a:rPr lang="en-US" sz="16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, </a:t>
                </a:r>
                <a:r>
                  <a:rPr lang="en-US" sz="16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while</a:t>
                </a:r>
                <a:r>
                  <a:rPr lang="en-US" sz="16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1600" b="1" dirty="0" err="1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Larabanga</a:t>
                </a:r>
                <a:r>
                  <a:rPr lang="en-US" sz="16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 Mosque Tour &amp; Visit, and Accra City Tour  </a:t>
                </a:r>
                <a:r>
                  <a:rPr lang="en-US" sz="16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were among the weakest performers due to their low revenue per booking.</a:t>
                </a:r>
              </a:p>
            </p:txBody>
          </p:sp>
          <p:sp>
            <p:nvSpPr>
              <p:cNvPr id="29" name="Text 21">
                <a:extLst>
                  <a:ext uri="{FF2B5EF4-FFF2-40B4-BE49-F238E27FC236}">
                    <a16:creationId xmlns:a16="http://schemas.microsoft.com/office/drawing/2014/main" id="{48B84663-D011-7E41-0EF4-C2B55C4BA367}"/>
                  </a:ext>
                </a:extLst>
              </p:cNvPr>
              <p:cNvSpPr/>
              <p:nvPr/>
            </p:nvSpPr>
            <p:spPr>
              <a:xfrm>
                <a:off x="8790447" y="3399182"/>
                <a:ext cx="3024369" cy="341219"/>
              </a:xfrm>
              <a:prstGeom prst="rect">
                <a:avLst/>
              </a:prstGeom>
              <a:solidFill>
                <a:srgbClr val="E1A918"/>
              </a:solidFill>
              <a:ln>
                <a:noFill/>
              </a:ln>
            </p:spPr>
            <p:txBody>
              <a:bodyPr wrap="square" lIns="381" tIns="381" rIns="381" bIns="381" rtlCol="0" anchor="ctr"/>
              <a:lstStyle/>
              <a:p>
                <a:pPr marL="119063">
                  <a:buNone/>
                </a:pPr>
                <a:r>
                  <a:rPr lang="en-US" sz="1100" b="1" dirty="0">
                    <a:solidFill>
                      <a:srgbClr val="FFFFFF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Key Insight – Tour Packages</a:t>
                </a:r>
                <a:endParaRPr lang="en-US" sz="11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E247AD4-EC3B-A0F9-03C8-DB5AAB8B58C5}"/>
                </a:ext>
              </a:extLst>
            </p:cNvPr>
            <p:cNvGrpSpPr/>
            <p:nvPr/>
          </p:nvGrpSpPr>
          <p:grpSpPr>
            <a:xfrm>
              <a:off x="8790446" y="1619598"/>
              <a:ext cx="3024370" cy="1293341"/>
              <a:chOff x="8790447" y="3399182"/>
              <a:chExt cx="3024370" cy="1293341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CBA2F1E-BE94-BF22-C411-A6AD03DA2F33}"/>
                  </a:ext>
                </a:extLst>
              </p:cNvPr>
              <p:cNvSpPr txBox="1"/>
              <p:nvPr/>
            </p:nvSpPr>
            <p:spPr>
              <a:xfrm>
                <a:off x="8790448" y="3770219"/>
                <a:ext cx="3024369" cy="9223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2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6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Peak-season </a:t>
                </a:r>
                <a:r>
                  <a:rPr lang="en-US" sz="16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customers spent about </a:t>
                </a:r>
                <a:r>
                  <a:rPr lang="en-US" sz="16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20.56% </a:t>
                </a:r>
                <a:r>
                  <a:rPr lang="en-US" sz="16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more per booking than </a:t>
                </a:r>
                <a:r>
                  <a:rPr lang="en-US" sz="16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Off-peak customers.</a:t>
                </a:r>
              </a:p>
            </p:txBody>
          </p:sp>
          <p:sp>
            <p:nvSpPr>
              <p:cNvPr id="33" name="Text 21">
                <a:extLst>
                  <a:ext uri="{FF2B5EF4-FFF2-40B4-BE49-F238E27FC236}">
                    <a16:creationId xmlns:a16="http://schemas.microsoft.com/office/drawing/2014/main" id="{CBFE38DB-F799-0C0C-9FF1-0303131273AA}"/>
                  </a:ext>
                </a:extLst>
              </p:cNvPr>
              <p:cNvSpPr/>
              <p:nvPr/>
            </p:nvSpPr>
            <p:spPr>
              <a:xfrm>
                <a:off x="8790447" y="3399182"/>
                <a:ext cx="3024369" cy="341219"/>
              </a:xfrm>
              <a:prstGeom prst="rect">
                <a:avLst/>
              </a:prstGeom>
              <a:solidFill>
                <a:srgbClr val="495666"/>
              </a:solidFill>
              <a:ln>
                <a:noFill/>
              </a:ln>
            </p:spPr>
            <p:txBody>
              <a:bodyPr wrap="square" lIns="381" tIns="381" rIns="381" bIns="381" rtlCol="0" anchor="ctr"/>
              <a:lstStyle/>
              <a:p>
                <a:pPr marL="119063">
                  <a:buNone/>
                </a:pPr>
                <a:r>
                  <a:rPr lang="en-US" sz="1100" b="1" dirty="0">
                    <a:solidFill>
                      <a:srgbClr val="FFFFFF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Key Insight –  Seasons</a:t>
                </a:r>
                <a:endParaRPr lang="en-US" sz="11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</p:grpSp>
      <p:sp>
        <p:nvSpPr>
          <p:cNvPr id="36" name="Text 2">
            <a:extLst>
              <a:ext uri="{FF2B5EF4-FFF2-40B4-BE49-F238E27FC236}">
                <a16:creationId xmlns:a16="http://schemas.microsoft.com/office/drawing/2014/main" id="{79D9CBA4-C9A7-1DA4-BAF1-D641FDCF9624}"/>
              </a:ext>
            </a:extLst>
          </p:cNvPr>
          <p:cNvSpPr/>
          <p:nvPr/>
        </p:nvSpPr>
        <p:spPr>
          <a:xfrm>
            <a:off x="593268" y="273842"/>
            <a:ext cx="5908767" cy="616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8275"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4324A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Seasons &amp; Tour Packages</a:t>
            </a: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3157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7696C-151B-F8ED-83E6-C3BD27192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 1" title="Microsoft Power BI">
                <a:extLst>
                  <a:ext uri="{FF2B5EF4-FFF2-40B4-BE49-F238E27FC236}">
                    <a16:creationId xmlns:a16="http://schemas.microsoft.com/office/drawing/2014/main" id="{A55789B0-B922-D8CF-A177-F1642CBAFDDD}"/>
                  </a:ext>
                </a:extLst>
              </p:cNvPr>
              <p:cNvGraphicFramePr>
                <a:graphicFrameLocks noGrp="1" noDrilldown="1" noMove="1" noResize="1"/>
              </p:cNvGraphicFramePr>
              <p:nvPr>
                <p:extLst>
                  <p:ext uri="{D42A27DB-BD31-4B8C-83A1-F6EECF244321}">
                    <p14:modId xmlns:p14="http://schemas.microsoft.com/office/powerpoint/2010/main" val="3199516206"/>
                  </p:ext>
                </p:extLst>
              </p:nvPr>
            </p:nvGraphicFramePr>
            <p:xfrm>
              <a:off x="1333500" y="717114"/>
              <a:ext cx="9525000" cy="5715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2" name="Add-in 1" title="Microsoft Power BI">
                <a:extLst>
                  <a:ext uri="{FF2B5EF4-FFF2-40B4-BE49-F238E27FC236}">
                    <a16:creationId xmlns:a16="http://schemas.microsoft.com/office/drawing/2014/main" id="{A55789B0-B922-D8CF-A177-F1642CBAFDD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33500" y="717114"/>
                <a:ext cx="9525000" cy="5715000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25E5F95E-2BBC-911A-FE5F-5792EB69DB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6006228"/>
            <a:ext cx="12192000" cy="8517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25A823-545E-148C-6B04-9E736CC64D0A}"/>
              </a:ext>
            </a:extLst>
          </p:cNvPr>
          <p:cNvGrpSpPr/>
          <p:nvPr/>
        </p:nvGrpSpPr>
        <p:grpSpPr>
          <a:xfrm>
            <a:off x="829203" y="969581"/>
            <a:ext cx="4150301" cy="5304353"/>
            <a:chOff x="1196951" y="834340"/>
            <a:chExt cx="4150301" cy="530435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8C0CF2E-BCDD-1687-0A03-E56B8E17DAB9}"/>
                </a:ext>
              </a:extLst>
            </p:cNvPr>
            <p:cNvGrpSpPr/>
            <p:nvPr/>
          </p:nvGrpSpPr>
          <p:grpSpPr>
            <a:xfrm>
              <a:off x="1196951" y="834340"/>
              <a:ext cx="4150300" cy="2158421"/>
              <a:chOff x="8790447" y="3399182"/>
              <a:chExt cx="3024370" cy="1931586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45A04EF-19EC-5A31-EAEE-AC6C1C2A0FE2}"/>
                  </a:ext>
                </a:extLst>
              </p:cNvPr>
              <p:cNvSpPr txBox="1"/>
              <p:nvPr/>
            </p:nvSpPr>
            <p:spPr>
              <a:xfrm>
                <a:off x="8790448" y="3770219"/>
                <a:ext cx="3024369" cy="15605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0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Repeat customers spend an average of </a:t>
                </a:r>
                <a:r>
                  <a:rPr lang="en-US" sz="20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GHS 808.52 </a:t>
                </a:r>
                <a:r>
                  <a:rPr lang="en-US" sz="20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per booking, compared with </a:t>
                </a:r>
                <a:r>
                  <a:rPr lang="en-US" sz="20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GHS 559.31 </a:t>
                </a:r>
                <a:r>
                  <a:rPr lang="en-US" sz="20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for new customers, representing approximately </a:t>
                </a:r>
                <a:r>
                  <a:rPr lang="en-US" sz="2000" b="1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44.6% </a:t>
                </a:r>
                <a:r>
                  <a:rPr lang="en-US" sz="20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higher spending.</a:t>
                </a:r>
              </a:p>
            </p:txBody>
          </p:sp>
          <p:sp>
            <p:nvSpPr>
              <p:cNvPr id="33" name="Text 21">
                <a:extLst>
                  <a:ext uri="{FF2B5EF4-FFF2-40B4-BE49-F238E27FC236}">
                    <a16:creationId xmlns:a16="http://schemas.microsoft.com/office/drawing/2014/main" id="{2FE336F5-77F7-EA4F-ED15-F54E1C322151}"/>
                  </a:ext>
                </a:extLst>
              </p:cNvPr>
              <p:cNvSpPr/>
              <p:nvPr/>
            </p:nvSpPr>
            <p:spPr>
              <a:xfrm>
                <a:off x="8790447" y="3399182"/>
                <a:ext cx="3024369" cy="341219"/>
              </a:xfrm>
              <a:prstGeom prst="rect">
                <a:avLst/>
              </a:prstGeom>
              <a:solidFill>
                <a:srgbClr val="495666"/>
              </a:solidFill>
              <a:ln>
                <a:noFill/>
              </a:ln>
            </p:spPr>
            <p:txBody>
              <a:bodyPr wrap="square" lIns="381" tIns="381" rIns="381" bIns="381" rtlCol="0" anchor="ctr"/>
              <a:lstStyle/>
              <a:p>
                <a:pPr marL="119063">
                  <a:buNone/>
                </a:pPr>
                <a:r>
                  <a:rPr lang="en-US" sz="1400" b="1" dirty="0">
                    <a:solidFill>
                      <a:srgbClr val="FFFFFF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Key Insight</a:t>
                </a:r>
                <a:endParaRPr lang="en-US" sz="14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92CF66F4-EDCE-8270-2274-2CA1DD9DC0EA}"/>
                </a:ext>
              </a:extLst>
            </p:cNvPr>
            <p:cNvGrpSpPr/>
            <p:nvPr/>
          </p:nvGrpSpPr>
          <p:grpSpPr>
            <a:xfrm>
              <a:off x="1196952" y="3323427"/>
              <a:ext cx="4150300" cy="2815266"/>
              <a:chOff x="8790447" y="3399182"/>
              <a:chExt cx="3024370" cy="2519402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4702312-4B88-5A78-F4BF-33609BF6D1F0}"/>
                  </a:ext>
                </a:extLst>
              </p:cNvPr>
              <p:cNvSpPr txBox="1"/>
              <p:nvPr/>
            </p:nvSpPr>
            <p:spPr>
              <a:xfrm>
                <a:off x="8790448" y="3770219"/>
                <a:ext cx="3024369" cy="21483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ts val="2400"/>
                  </a:lnSpc>
                  <a:spcBef>
                    <a:spcPts val="300"/>
                  </a:spcBef>
                  <a:spcAft>
                    <a:spcPts val="300"/>
                  </a:spcAft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Build a loyalty </a:t>
                </a:r>
                <a:r>
                  <a:rPr lang="en-US" sz="2000" dirty="0" err="1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programme</a:t>
                </a:r>
                <a:r>
                  <a:rPr lang="en-US" sz="20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 around repeat-booking </a:t>
                </a:r>
                <a:r>
                  <a:rPr lang="en-US" sz="2000" dirty="0" err="1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behaviour</a:t>
                </a:r>
                <a:r>
                  <a:rPr lang="en-US" sz="20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</a:p>
              <a:p>
                <a:pPr marL="342900" indent="-342900">
                  <a:lnSpc>
                    <a:spcPts val="2400"/>
                  </a:lnSpc>
                  <a:spcBef>
                    <a:spcPts val="300"/>
                  </a:spcBef>
                  <a:spcAft>
                    <a:spcPts val="300"/>
                  </a:spcAft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Introduce private-tour membership benefits and premium packages.</a:t>
                </a:r>
              </a:p>
              <a:p>
                <a:pPr marL="342900" indent="-342900">
                  <a:lnSpc>
                    <a:spcPts val="2400"/>
                  </a:lnSpc>
                  <a:spcBef>
                    <a:spcPts val="300"/>
                  </a:spcBef>
                  <a:spcAft>
                    <a:spcPts val="300"/>
                  </a:spcAft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solidFill>
                      <a:srgbClr val="495666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Use post-tour follow-ups to recommend customers’ next destinations.</a:t>
                </a:r>
              </a:p>
            </p:txBody>
          </p:sp>
          <p:sp>
            <p:nvSpPr>
              <p:cNvPr id="29" name="Text 21">
                <a:extLst>
                  <a:ext uri="{FF2B5EF4-FFF2-40B4-BE49-F238E27FC236}">
                    <a16:creationId xmlns:a16="http://schemas.microsoft.com/office/drawing/2014/main" id="{46327B93-DE6D-D5B5-F296-7DEAB3948C20}"/>
                  </a:ext>
                </a:extLst>
              </p:cNvPr>
              <p:cNvSpPr/>
              <p:nvPr/>
            </p:nvSpPr>
            <p:spPr>
              <a:xfrm>
                <a:off x="8790447" y="3399182"/>
                <a:ext cx="3024369" cy="341219"/>
              </a:xfrm>
              <a:prstGeom prst="rect">
                <a:avLst/>
              </a:prstGeom>
              <a:solidFill>
                <a:srgbClr val="E1A918"/>
              </a:solidFill>
              <a:ln>
                <a:noFill/>
              </a:ln>
            </p:spPr>
            <p:txBody>
              <a:bodyPr wrap="square" lIns="381" tIns="381" rIns="381" bIns="381" rtlCol="0" anchor="ctr"/>
              <a:lstStyle/>
              <a:p>
                <a:pPr marL="119063">
                  <a:buNone/>
                </a:pPr>
                <a:r>
                  <a:rPr lang="en-US" sz="1400" b="1" dirty="0">
                    <a:solidFill>
                      <a:srgbClr val="FFFFFF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Recommended Actions</a:t>
                </a:r>
              </a:p>
            </p:txBody>
          </p:sp>
        </p:grpSp>
      </p:grpSp>
      <p:sp>
        <p:nvSpPr>
          <p:cNvPr id="4" name="Text 2">
            <a:extLst>
              <a:ext uri="{FF2B5EF4-FFF2-40B4-BE49-F238E27FC236}">
                <a16:creationId xmlns:a16="http://schemas.microsoft.com/office/drawing/2014/main" id="{F82CFC0D-16C6-91E4-7552-60E7B92FB605}"/>
              </a:ext>
            </a:extLst>
          </p:cNvPr>
          <p:cNvSpPr/>
          <p:nvPr/>
        </p:nvSpPr>
        <p:spPr>
          <a:xfrm>
            <a:off x="593268" y="273842"/>
            <a:ext cx="8988054" cy="616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8275"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4324A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Customer Retention and Spending Patterns</a:t>
            </a: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1172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579CE-36CA-2CBF-A6BB-DD98D7273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3" name="Add-in 2" title="Microsoft Power BI">
                <a:extLst>
                  <a:ext uri="{FF2B5EF4-FFF2-40B4-BE49-F238E27FC236}">
                    <a16:creationId xmlns:a16="http://schemas.microsoft.com/office/drawing/2014/main" id="{69F1684D-CC41-0E5B-DF0D-547D9514F2EC}"/>
                  </a:ext>
                </a:extLst>
              </p:cNvPr>
              <p:cNvGraphicFramePr>
                <a:graphicFrameLocks noGrp="1" noDrilldown="1" noMove="1" noResize="1"/>
              </p:cNvGraphicFramePr>
              <p:nvPr>
                <p:extLst>
                  <p:ext uri="{D42A27DB-BD31-4B8C-83A1-F6EECF244321}">
                    <p14:modId xmlns:p14="http://schemas.microsoft.com/office/powerpoint/2010/main" val="2984062088"/>
                  </p:ext>
                </p:extLst>
              </p:nvPr>
            </p:nvGraphicFramePr>
            <p:xfrm>
              <a:off x="593268" y="890069"/>
              <a:ext cx="9525000" cy="5715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3" name="Add-in 2" title="Microsoft Power BI">
                <a:extLst>
                  <a:ext uri="{FF2B5EF4-FFF2-40B4-BE49-F238E27FC236}">
                    <a16:creationId xmlns:a16="http://schemas.microsoft.com/office/drawing/2014/main" id="{69F1684D-CC41-0E5B-DF0D-547D9514F2E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3268" y="890069"/>
                <a:ext cx="9525000" cy="5715000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6A48E0C5-87EE-0484-A4D5-4967A98A869B}"/>
              </a:ext>
            </a:extLst>
          </p:cNvPr>
          <p:cNvSpPr>
            <a:spLocks/>
          </p:cNvSpPr>
          <p:nvPr/>
        </p:nvSpPr>
        <p:spPr>
          <a:xfrm>
            <a:off x="0" y="6307252"/>
            <a:ext cx="12192000" cy="5507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32A92D-E801-659E-8D45-4A7AF320E27A}"/>
              </a:ext>
            </a:extLst>
          </p:cNvPr>
          <p:cNvSpPr txBox="1"/>
          <p:nvPr/>
        </p:nvSpPr>
        <p:spPr>
          <a:xfrm>
            <a:off x="5454797" y="1574421"/>
            <a:ext cx="5855934" cy="3975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600"/>
              </a:lnSpc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495666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Retarget previous customers through </a:t>
            </a:r>
            <a:r>
              <a:rPr lang="en-US" sz="2000" dirty="0" err="1">
                <a:solidFill>
                  <a:srgbClr val="495666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personalised</a:t>
            </a:r>
            <a:r>
              <a:rPr lang="en-US" sz="2000" dirty="0">
                <a:solidFill>
                  <a:srgbClr val="495666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emails, social media campaigns and digital advertisements.</a:t>
            </a:r>
          </a:p>
          <a:p>
            <a:pPr marL="342900" indent="-342900">
              <a:lnSpc>
                <a:spcPts val="2600"/>
              </a:lnSpc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495666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Run time-limited promotions from August to November, with stronger campaigns in September, the weakest month.</a:t>
            </a:r>
          </a:p>
          <a:p>
            <a:pPr marL="342900" indent="-342900">
              <a:lnSpc>
                <a:spcPts val="2600"/>
              </a:lnSpc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495666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Increase package value by combining tours with transport, meals, accommodation or guided experiences instead of relying on heavy discounts.</a:t>
            </a:r>
          </a:p>
          <a:p>
            <a:pPr marL="342900" indent="-342900">
              <a:lnSpc>
                <a:spcPts val="2600"/>
              </a:lnSpc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495666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Introduce premium add-ons and private-tour upgrades for higher-spending customer segments.</a:t>
            </a:r>
          </a:p>
        </p:txBody>
      </p:sp>
      <p:sp>
        <p:nvSpPr>
          <p:cNvPr id="33" name="Text 21">
            <a:extLst>
              <a:ext uri="{FF2B5EF4-FFF2-40B4-BE49-F238E27FC236}">
                <a16:creationId xmlns:a16="http://schemas.microsoft.com/office/drawing/2014/main" id="{82D55500-2FC2-4BD3-EAD8-0AECE5EF4641}"/>
              </a:ext>
            </a:extLst>
          </p:cNvPr>
          <p:cNvSpPr/>
          <p:nvPr/>
        </p:nvSpPr>
        <p:spPr>
          <a:xfrm>
            <a:off x="5431023" y="974964"/>
            <a:ext cx="4150299" cy="381290"/>
          </a:xfrm>
          <a:prstGeom prst="rect">
            <a:avLst/>
          </a:prstGeom>
          <a:solidFill>
            <a:srgbClr val="495666"/>
          </a:solidFill>
          <a:ln>
            <a:noFill/>
          </a:ln>
        </p:spPr>
        <p:txBody>
          <a:bodyPr wrap="square" lIns="381" tIns="381" rIns="381" bIns="381" rtlCol="0" anchor="ctr"/>
          <a:lstStyle/>
          <a:p>
            <a:pPr marL="119063">
              <a:buNone/>
            </a:pPr>
            <a:r>
              <a:rPr lang="en-US" sz="1400" b="1" dirty="0">
                <a:solidFill>
                  <a:srgbClr val="FFFFFF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Off-Season Actions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346CC7B-727F-52DB-7CD4-67E9A88FA566}"/>
              </a:ext>
            </a:extLst>
          </p:cNvPr>
          <p:cNvSpPr/>
          <p:nvPr/>
        </p:nvSpPr>
        <p:spPr>
          <a:xfrm>
            <a:off x="593268" y="273842"/>
            <a:ext cx="8988054" cy="616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8275"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4324A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Strategies to Boost Off-Season Bookings</a:t>
            </a: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5680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A7E08ED-6152-C111-A233-D915974A0FAC}"/>
              </a:ext>
            </a:extLst>
          </p:cNvPr>
          <p:cNvSpPr/>
          <p:nvPr/>
        </p:nvSpPr>
        <p:spPr>
          <a:xfrm>
            <a:off x="0" y="0"/>
            <a:ext cx="4711148" cy="6858000"/>
          </a:xfrm>
          <a:prstGeom prst="roundRect">
            <a:avLst>
              <a:gd name="adj" fmla="val 0"/>
            </a:avLst>
          </a:prstGeom>
          <a:solidFill>
            <a:srgbClr val="4956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000" b="1" i="1">
                <a:solidFill>
                  <a:srgbClr val="05338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endParaRPr lang="en-US" sz="2000" b="1">
              <a:solidFill>
                <a:srgbClr val="053385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CA864630-189C-7C9D-84E7-183302E057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586"/>
            <a:ext cx="4711148" cy="7066722"/>
          </a:xfrm>
          <a:prstGeom prst="rect">
            <a:avLst/>
          </a:prstGeom>
        </p:spPr>
      </p:pic>
      <p:sp>
        <p:nvSpPr>
          <p:cNvPr id="41" name="Text 2">
            <a:extLst>
              <a:ext uri="{FF2B5EF4-FFF2-40B4-BE49-F238E27FC236}">
                <a16:creationId xmlns:a16="http://schemas.microsoft.com/office/drawing/2014/main" id="{876AEED4-FC8F-DE05-9B6B-4932E829EDC4}"/>
              </a:ext>
            </a:extLst>
          </p:cNvPr>
          <p:cNvSpPr/>
          <p:nvPr/>
        </p:nvSpPr>
        <p:spPr>
          <a:xfrm>
            <a:off x="4906884" y="190365"/>
            <a:ext cx="6612602" cy="616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8275"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4324A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Business Insights &amp; Recommendations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FA27D55-CB1B-33FF-411B-D9A9404277B1}"/>
              </a:ext>
            </a:extLst>
          </p:cNvPr>
          <p:cNvGrpSpPr/>
          <p:nvPr/>
        </p:nvGrpSpPr>
        <p:grpSpPr>
          <a:xfrm>
            <a:off x="593412" y="936648"/>
            <a:ext cx="3675620" cy="4508758"/>
            <a:chOff x="771212" y="1343661"/>
            <a:chExt cx="3675620" cy="4508758"/>
          </a:xfrm>
        </p:grpSpPr>
        <p:sp>
          <p:nvSpPr>
            <p:cNvPr id="43" name="Text 21">
              <a:extLst>
                <a:ext uri="{FF2B5EF4-FFF2-40B4-BE49-F238E27FC236}">
                  <a16:creationId xmlns:a16="http://schemas.microsoft.com/office/drawing/2014/main" id="{B63A3B74-B103-576A-954B-9BC67DC97265}"/>
                </a:ext>
              </a:extLst>
            </p:cNvPr>
            <p:cNvSpPr/>
            <p:nvPr/>
          </p:nvSpPr>
          <p:spPr>
            <a:xfrm>
              <a:off x="828527" y="1921624"/>
              <a:ext cx="759681" cy="3812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381" tIns="381" rIns="381" bIns="381" rtlCol="0" anchor="ctr"/>
            <a:lstStyle/>
            <a:p>
              <a:pPr marL="119063">
                <a:buNone/>
              </a:pPr>
              <a:r>
                <a:rPr lang="en-US" sz="1100" b="1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Expand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8FDE33A-C0C0-64F5-C777-8955060FAC0D}"/>
                </a:ext>
              </a:extLst>
            </p:cNvPr>
            <p:cNvSpPr txBox="1"/>
            <p:nvPr/>
          </p:nvSpPr>
          <p:spPr>
            <a:xfrm>
              <a:off x="1768438" y="1343661"/>
              <a:ext cx="2678394" cy="153721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marL="457200" indent="-342900">
                <a:lnSpc>
                  <a:spcPts val="18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sz="1200" b="1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Safari Experience</a:t>
              </a:r>
            </a:p>
            <a:p>
              <a:pPr marL="457200" indent="-342900">
                <a:lnSpc>
                  <a:spcPts val="18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sz="1200" b="1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Volta Adventure</a:t>
              </a:r>
            </a:p>
            <a:p>
              <a:pPr marL="457200" indent="-342900">
                <a:lnSpc>
                  <a:spcPts val="18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sz="1200" b="1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Lake </a:t>
              </a:r>
              <a:r>
                <a:rPr lang="en-US" sz="1200" b="1" dirty="0" err="1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Bosomtwe</a:t>
              </a:r>
              <a:r>
                <a:rPr lang="en-US" sz="1200" b="1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 Cruise</a:t>
              </a:r>
            </a:p>
            <a:p>
              <a:pPr marL="457200" indent="-342900">
                <a:lnSpc>
                  <a:spcPts val="18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sz="1200" b="1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Kumasi Heritage Tour</a:t>
              </a:r>
            </a:p>
            <a:p>
              <a:pPr marL="457200" indent="-342900">
                <a:lnSpc>
                  <a:spcPts val="18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sz="1200" b="1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Shai Hills Adventure</a:t>
              </a: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A2B16C13-6F0A-E75B-1068-F8EA342B6817}"/>
                </a:ext>
              </a:extLst>
            </p:cNvPr>
            <p:cNvSpPr/>
            <p:nvPr/>
          </p:nvSpPr>
          <p:spPr>
            <a:xfrm>
              <a:off x="771212" y="5207354"/>
              <a:ext cx="816996" cy="381290"/>
            </a:xfrm>
            <a:prstGeom prst="rect">
              <a:avLst/>
            </a:prstGeom>
            <a:solidFill>
              <a:srgbClr val="E1A918"/>
            </a:solidFill>
            <a:ln>
              <a:noFill/>
            </a:ln>
          </p:spPr>
          <p:txBody>
            <a:bodyPr wrap="square" lIns="381" tIns="381" rIns="381" bIns="381" rtlCol="0" anchor="ctr"/>
            <a:lstStyle/>
            <a:p>
              <a:pPr marL="119063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Adjust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BCDB36A-A1B9-3004-C521-C2A31BBD4A7E}"/>
                </a:ext>
              </a:extLst>
            </p:cNvPr>
            <p:cNvSpPr txBox="1"/>
            <p:nvPr/>
          </p:nvSpPr>
          <p:spPr>
            <a:xfrm>
              <a:off x="1768438" y="4943580"/>
              <a:ext cx="2678394" cy="908839"/>
            </a:xfrm>
            <a:prstGeom prst="rect">
              <a:avLst/>
            </a:prstGeom>
            <a:solidFill>
              <a:srgbClr val="E1A918"/>
            </a:solidFill>
          </p:spPr>
          <p:txBody>
            <a:bodyPr wrap="square">
              <a:spAutoFit/>
            </a:bodyPr>
            <a:lstStyle/>
            <a:p>
              <a:pPr marL="114300">
                <a:lnSpc>
                  <a:spcPts val="2200"/>
                </a:lnSpc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Bundle low-value tours such as Aburi Gardens, Accra City, Elmina Castle, </a:t>
              </a:r>
              <a:r>
                <a:rPr lang="en-US" sz="1200" b="1" dirty="0" err="1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Tafi</a:t>
              </a:r>
              <a:r>
                <a:rPr lang="en-US" sz="1200" b="1" dirty="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 </a:t>
              </a:r>
              <a:r>
                <a:rPr lang="en-US" sz="1200" b="1" dirty="0" err="1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Atome</a:t>
              </a:r>
              <a:r>
                <a:rPr lang="en-US" sz="1200" b="1" dirty="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 and Northern Cultural Tour.</a:t>
              </a:r>
            </a:p>
          </p:txBody>
        </p:sp>
        <p:sp>
          <p:nvSpPr>
            <p:cNvPr id="53" name="Text 21">
              <a:extLst>
                <a:ext uri="{FF2B5EF4-FFF2-40B4-BE49-F238E27FC236}">
                  <a16:creationId xmlns:a16="http://schemas.microsoft.com/office/drawing/2014/main" id="{A8D7B93E-B990-818E-43EE-A13BD1E07E1F}"/>
                </a:ext>
              </a:extLst>
            </p:cNvPr>
            <p:cNvSpPr/>
            <p:nvPr/>
          </p:nvSpPr>
          <p:spPr>
            <a:xfrm>
              <a:off x="771212" y="3726059"/>
              <a:ext cx="816996" cy="38129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 wrap="square" lIns="381" tIns="381" rIns="381" bIns="381" rtlCol="0" anchor="ctr"/>
            <a:lstStyle/>
            <a:p>
              <a:pPr marL="119063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Discontinue Carefully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C247D5E-59B0-1BEF-E233-B575BE7153D1}"/>
                </a:ext>
              </a:extLst>
            </p:cNvPr>
            <p:cNvSpPr txBox="1"/>
            <p:nvPr/>
          </p:nvSpPr>
          <p:spPr>
            <a:xfrm>
              <a:off x="1768438" y="3149699"/>
              <a:ext cx="2678394" cy="15340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txBody>
            <a:bodyPr wrap="square">
              <a:spAutoFit/>
            </a:bodyPr>
            <a:lstStyle/>
            <a:p>
              <a:pPr marL="114300">
                <a:lnSpc>
                  <a:spcPts val="1900"/>
                </a:lnSpc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 do not recommend discontinuing any tour based on revenue alone. Before making that decision, I would first assess each package’s profit margin, operating capacity and customer feedback.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1FF3C4C-A776-78C2-8134-39DC67B26A74}"/>
              </a:ext>
            </a:extLst>
          </p:cNvPr>
          <p:cNvGrpSpPr/>
          <p:nvPr/>
        </p:nvGrpSpPr>
        <p:grpSpPr>
          <a:xfrm>
            <a:off x="5100827" y="936648"/>
            <a:ext cx="6319961" cy="5486661"/>
            <a:chOff x="5100827" y="936648"/>
            <a:chExt cx="6319961" cy="5486661"/>
          </a:xfrm>
        </p:grpSpPr>
        <p:sp>
          <p:nvSpPr>
            <p:cNvPr id="59" name="Text 21">
              <a:extLst>
                <a:ext uri="{FF2B5EF4-FFF2-40B4-BE49-F238E27FC236}">
                  <a16:creationId xmlns:a16="http://schemas.microsoft.com/office/drawing/2014/main" id="{4CFA836D-959E-689C-47EB-8EA2A2F46A6E}"/>
                </a:ext>
              </a:extLst>
            </p:cNvPr>
            <p:cNvSpPr/>
            <p:nvPr/>
          </p:nvSpPr>
          <p:spPr>
            <a:xfrm>
              <a:off x="5116333" y="936648"/>
              <a:ext cx="1855967" cy="418067"/>
            </a:xfrm>
            <a:prstGeom prst="rect">
              <a:avLst/>
            </a:prstGeom>
            <a:solidFill>
              <a:srgbClr val="495666"/>
            </a:solidFill>
            <a:ln>
              <a:noFill/>
            </a:ln>
          </p:spPr>
          <p:txBody>
            <a:bodyPr wrap="square" lIns="381" tIns="381" rIns="381" bIns="381" rtlCol="0" anchor="ctr"/>
            <a:lstStyle/>
            <a:p>
              <a:pPr marL="119063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Customer Loyalty Plan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7AF4722-853D-ABA1-1AD3-40B0C8A2E2B2}"/>
                </a:ext>
              </a:extLst>
            </p:cNvPr>
            <p:cNvSpPr txBox="1"/>
            <p:nvPr/>
          </p:nvSpPr>
          <p:spPr>
            <a:xfrm>
              <a:off x="5116333" y="1565603"/>
              <a:ext cx="6304455" cy="14612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ts val="24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Introduce points, referral rewards and next-booking discounts</a:t>
              </a:r>
            </a:p>
            <a:p>
              <a:pPr marL="342900" indent="-342900">
                <a:lnSpc>
                  <a:spcPts val="24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Send post-tour thank-you messages and </a:t>
              </a:r>
              <a:r>
                <a:rPr lang="en-US" dirty="0" err="1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personalised</a:t>
              </a:r>
              <a:r>
                <a:rPr lang="en-US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 recommendations</a:t>
              </a:r>
            </a:p>
            <a:p>
              <a:pPr marL="342900" indent="-342900">
                <a:lnSpc>
                  <a:spcPts val="24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Create exclusive benefits for private-tour customers</a:t>
              </a:r>
            </a:p>
          </p:txBody>
        </p:sp>
        <p:sp>
          <p:nvSpPr>
            <p:cNvPr id="69" name="Text 21">
              <a:extLst>
                <a:ext uri="{FF2B5EF4-FFF2-40B4-BE49-F238E27FC236}">
                  <a16:creationId xmlns:a16="http://schemas.microsoft.com/office/drawing/2014/main" id="{C2A48003-453A-D95E-561B-5F2E41DB6548}"/>
                </a:ext>
              </a:extLst>
            </p:cNvPr>
            <p:cNvSpPr/>
            <p:nvPr/>
          </p:nvSpPr>
          <p:spPr>
            <a:xfrm>
              <a:off x="5116333" y="3201578"/>
              <a:ext cx="1855967" cy="418067"/>
            </a:xfrm>
            <a:prstGeom prst="rect">
              <a:avLst/>
            </a:prstGeom>
            <a:solidFill>
              <a:srgbClr val="495666"/>
            </a:solidFill>
            <a:ln>
              <a:noFill/>
            </a:ln>
          </p:spPr>
          <p:txBody>
            <a:bodyPr wrap="square" lIns="381" tIns="381" rIns="381" bIns="381" rtlCol="0" anchor="ctr"/>
            <a:lstStyle/>
            <a:p>
              <a:pPr marL="119063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Data-Driven Marketing Plan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FAF8B78-70A5-E0CB-592B-280355989CA8}"/>
                </a:ext>
              </a:extLst>
            </p:cNvPr>
            <p:cNvSpPr txBox="1"/>
            <p:nvPr/>
          </p:nvSpPr>
          <p:spPr>
            <a:xfrm>
              <a:off x="5100827" y="3730905"/>
              <a:ext cx="6304455" cy="26924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ts val="24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 recommend running targeted digital campaigns from August to November, with greater focus on September, the weakest booking month.</a:t>
              </a:r>
            </a:p>
            <a:p>
              <a:pPr marL="342900" indent="-342900">
                <a:lnSpc>
                  <a:spcPts val="24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 would use customer booking history to send </a:t>
              </a:r>
              <a:r>
                <a:rPr lang="en-US" dirty="0" err="1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personalised</a:t>
              </a:r>
              <a:r>
                <a:rPr lang="en-US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 offers through email, social media and online advertising.</a:t>
              </a:r>
            </a:p>
            <a:p>
              <a:pPr marL="342900" indent="-342900">
                <a:lnSpc>
                  <a:spcPts val="2400"/>
                </a:lnSpc>
                <a:spcBef>
                  <a:spcPts val="300"/>
                </a:spcBef>
                <a:spcAft>
                  <a:spcPts val="300"/>
                </a:spcAft>
                <a:buFont typeface="Wingdings" panose="05000000000000000000" pitchFamily="2" charset="2"/>
                <a:buChar char="§"/>
              </a:pPr>
              <a:r>
                <a:rPr lang="en-US" dirty="0">
                  <a:solidFill>
                    <a:srgbClr val="495666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 recommend introducing limited early-booking, weekday and group promotions to increase demand without relying on heavy discounts.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1194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D5050-0E6C-51FF-84B5-ADF3FE94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00812EA-7279-33D9-0C4D-A6A1F8533EF0}"/>
              </a:ext>
            </a:extLst>
          </p:cNvPr>
          <p:cNvSpPr/>
          <p:nvPr/>
        </p:nvSpPr>
        <p:spPr>
          <a:xfrm flipH="1" flipV="1">
            <a:off x="0" y="3139440"/>
            <a:ext cx="12192000" cy="3718560"/>
          </a:xfrm>
          <a:prstGeom prst="rect">
            <a:avLst/>
          </a:prstGeom>
          <a:solidFill>
            <a:srgbClr val="4956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 hidden="1">
            <a:extLst>
              <a:ext uri="{FF2B5EF4-FFF2-40B4-BE49-F238E27FC236}">
                <a16:creationId xmlns:a16="http://schemas.microsoft.com/office/drawing/2014/main" id="{DE3741E6-AAEC-5E7C-E77D-2A414BCE74C5}"/>
              </a:ext>
            </a:extLst>
          </p:cNvPr>
          <p:cNvSpPr/>
          <p:nvPr/>
        </p:nvSpPr>
        <p:spPr>
          <a:xfrm flipH="1" flipV="1">
            <a:off x="0" y="0"/>
            <a:ext cx="12192000" cy="3139440"/>
          </a:xfrm>
          <a:prstGeom prst="rect">
            <a:avLst/>
          </a:prstGeom>
          <a:solidFill>
            <a:srgbClr val="E1A9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1578EE-DC08-D6C2-2DA9-6BC17E1B9B7E}"/>
              </a:ext>
            </a:extLst>
          </p:cNvPr>
          <p:cNvSpPr/>
          <p:nvPr/>
        </p:nvSpPr>
        <p:spPr>
          <a:xfrm flipH="1" flipV="1">
            <a:off x="-15876" y="6489700"/>
            <a:ext cx="9871076" cy="775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528C67-81AF-DD45-1D84-1E1CD84BEB7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5701" b="1279"/>
          <a:stretch>
            <a:fillRect/>
          </a:stretch>
        </p:blipFill>
        <p:spPr>
          <a:xfrm>
            <a:off x="-15876" y="0"/>
            <a:ext cx="12207876" cy="675393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4EE9C8F-A97D-3359-14B4-B6BB570E141A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62" b="46347"/>
          <a:stretch>
            <a:fillRect/>
          </a:stretch>
        </p:blipFill>
        <p:spPr>
          <a:xfrm>
            <a:off x="-7938" y="0"/>
            <a:ext cx="12207876" cy="3139441"/>
          </a:xfrm>
          <a:prstGeom prst="rect">
            <a:avLst/>
          </a:prstGeom>
        </p:spPr>
      </p:pic>
      <p:sp>
        <p:nvSpPr>
          <p:cNvPr id="27" name="Text 1">
            <a:extLst>
              <a:ext uri="{FF2B5EF4-FFF2-40B4-BE49-F238E27FC236}">
                <a16:creationId xmlns:a16="http://schemas.microsoft.com/office/drawing/2014/main" id="{D0B3A83A-59A3-1344-83DE-4B0B0002ED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844490" y="6278880"/>
            <a:ext cx="2288370" cy="475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1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Solomon Gyamfi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A9703-B090-2F90-9797-2F0A1F68AE9C}"/>
              </a:ext>
            </a:extLst>
          </p:cNvPr>
          <p:cNvSpPr txBox="1"/>
          <p:nvPr/>
        </p:nvSpPr>
        <p:spPr>
          <a:xfrm>
            <a:off x="1574800" y="3896448"/>
            <a:ext cx="8541871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600" b="1" dirty="0">
                <a:solidFill>
                  <a:schemeClr val="bg1"/>
                </a:solidFill>
                <a:latin typeface="Dreaming Outloud Script Pro" panose="020F0502020204030204" pitchFamily="66" charset="0"/>
                <a:ea typeface="Calibri Light" panose="020F0302020204030204" pitchFamily="34" charset="0"/>
                <a:cs typeface="Dreaming Outloud Script Pro" panose="020F0502020204030204" pitchFamily="66" charset="0"/>
              </a:rPr>
              <a:t>Thank You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99F5F-9AD2-806B-B5FE-BBDB8ABAA4BD}"/>
              </a:ext>
            </a:extLst>
          </p:cNvPr>
          <p:cNvSpPr txBox="1"/>
          <p:nvPr/>
        </p:nvSpPr>
        <p:spPr>
          <a:xfrm>
            <a:off x="898959" y="1248296"/>
            <a:ext cx="10543741" cy="1456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6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2800" b="1" dirty="0">
                <a:solidFill>
                  <a:srgbClr val="495666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Ghana Adventures can grow by protecting high-value tours, improving lower-value packages, and using digital channels plus loyalty offers to strengthen off-season demand.</a:t>
            </a:r>
          </a:p>
        </p:txBody>
      </p:sp>
    </p:spTree>
    <p:extLst>
      <p:ext uri="{BB962C8B-B14F-4D97-AF65-F5344CB8AC3E}">
        <p14:creationId xmlns:p14="http://schemas.microsoft.com/office/powerpoint/2010/main" val="887816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80EB7322-DCD2-4502-9821-7DDF66A57043}">
  <we:reference id="wa200003233" version="2.0.0.3" store="en-US" storeType="OMEX"/>
  <we:alternateReferences>
    <we:reference id="WA200003233" version="2.0.0.3" store="WA200003233" storeType="OMEX"/>
  </we:alternateReferences>
  <we:properties>
    <we:property name="artifactViewState" value="&quot;live&quot;"/>
    <we:property name="backgroundColor" value="&quot;#FFFFFF&quot;"/>
    <we:property name="bookmark" value="&quot;H4sIAAAAAAAAA+1ZW0/bSBT+K5Ff+hKtfEk8Nm8lZS9S26UEsVpVqJrLcTKt4/GObbZZlP++xzN2gCSACwFC4S2Zc3LmfN+52jl3hCzylM4/0hk4e86+Ut9mVH/reU7fyewZJG4SczfxOBnGQUBij7ooVXkpVVY4e+dOSfUEyhNZVDStDeHh59O+Q9P0kE7qbwlNC+g7OehCZTSV/4FVRlGpK1j0Hfiep0rT2uS4pCXUZs9QHb+jC94vAd5IeSnPYAy8tKeBy7gfRYlHhiJOROTHIkG1wioYzzaq1KbN9SOVlVRmeE19Bi6LCSrHXCTgBsIXhNXniUzLRoXND77nGtEh5nlek/NWnNGMg3AMBA2F9fjc+QC0qLTBcXBFMFaV5nAExo+DrJTlHO0wJF5mk8JZIBmHWiFV5vxYlTTt7V+WTtW/Iw3IkXD23MUpnhQoSxtKL9AdWw851aIRYdDYV2SnxoI/U1qA3p8bOO+kbnn1+ysePxQU9B01mAc8CYgfABeEMI/4xHty2o8gR4Z7R3UmPmfOr+KwhAc0CSB2fcYGkc9DEnE3enLC32KxY69o06N3QtPqeVN/HaIm633PY5Hve1xEJAbCGXn6INgKPYIzyJ45+atIGtIhoL4rmC9Cn/JhQtkguZX0EaKfKC25AXWV998lxljz6fw93pSuO72Ur4taZ0+olnbsGYB3At4M76Up5woXh6ClEkbxkj/OO8TVuzioxQ0K5wPOxemG+Pd3Z+w9tiv3KIoUN4xRWhWYYiBGKq1m2UjNmBpNqS471om3Wic/eeYtTtt1D819vbTQNdVoCfrJScCehadceIwIN4xdKnCJdQc4u29tWscq/7hWEDb37lsPJWp/ySn/hsNtrRy8HSrMfqcWvh1SmvMvfEqzDIN4hzYhVFaVP9ITHm92dqnFh+LRFgGNSMBcb8iSyBVBxLwwEPea3Ntxt0DG8XfPejzxldH0wjNwGVKbeAlEQ5cz38XH1AEnAjfH259Om+5rdWqVk/ZNBjL2q1Yzo9yMjaJi/1SAGFbJHLcC/Pyp/XCTJVabWMPXd2yg3ZrFMaRIX3e62qmItm8cA8shmEhIcdjhVX9uNWeud2RTsmAAcBa5JoIWvV+XZHee/ppC7ZKhKROybFz6Y4WvYvtMGvcpS+F6C8uMWSzMk80TzPld6nAv8qmk6/uSx/Povq/M2jG0T/VLn0GrHcH0MUFiAmQ45MMoHLCAESru8Z50O47+DVTfJdhFKjlOxssRdmagJyZqgpbUYMjtRRKsXAkjBgPx3HkvEba1bZN/z3mzTwvJ3zR9sf4nIG3TZM1cUeJiWI6Nl+1UvNG4+Q+jbbmLa5LBKP/AVOjKsE0Bn3txAEngUT/EHAiJT/gub8GvefBQa2nIBwMmIuwIlLkhjZJhh9fHj/cYbC7cdj5MILOxWIvhxaLdbeXesQVwhTW8fZk+nzfn929aVXnvGC3WSX56anPR/PS1am5g1tSOR0M/CFiYhPGAQBz6Lh/uQO18qnDpgddx+qAJcUGyqZdauokzVZUF7l9wSDPYABZh0UyA6AqxX4dLNs90nTlZLP4Hqn7TU54hAAA=&quot;"/>
    <we:property name="creatorSessionId" value="&quot;6ce8c513-1f41-443e-8fb1-d12224cdeefc&quot;"/>
    <we:property name="creatorTenantId" value="&quot;aa0fb800-7011-42c3-bffb-1f3a9e9b2ed9&quot;"/>
    <we:property name="creatorUserId" value="&quot;1003200245A7A7A9&quot;"/>
    <we:property name="datasetId" value="&quot;a85d4ca9-4c1a-43dc-be16-18b7333ed1bb&quot;"/>
    <we:property name="embedUrl" value="&quot;/reportEmbed?reportId=2713a51e-c6c1-464a-a8d5-bdef182f38cf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1Z227bOBD9lUAvfTEWEmWLUt4SN4tdtLnUDrIoiiDgZRSrkUUvRWXrBv73HZGSk9i5uLmnyZtNjodzzlwOJZ95MisnOZvusDF4696mUidjpk/WAq/jFc3a7u6n7Y3Bp6Odje0tXFYTk6mi9NbPPMP0MZiDrKxYXnvAxW+HHY/l+R47rr+lLC+h401Al6pgefYTnDFuGV3BrOPBj0muNKtdDg0zULs9RXP8jmcHf4R4IhMmO4UhCONWQ58LEsdpQHsySWVMEpmiWekMbGRXmtSu7fF9VRiWFXhMvQY+TygaJ0Km4IeSSMrr9TTLTWPCp1s/JhrRIebppGZlQ56yQoD0LAQNpYv4zNsGVlba4ti6tDFUlRYwABvHVmEyM0U/HBnPiuPSmyEZe1ohVXZ9XxmWr21e3B2p//oakCPprfuzQ1wpcS9vKD1Ht+8iFEzLZguTxr8jOzUW/JnSEvTm1ML5mOmWV9JZiPixoGDsaMEDEGlISQhCUsoDSmjw7LQPYIIMrw3qSnzNnF/G4QgPWRpC4hPOuzEREY2FHz874RvY7Dgr2vJYO2B59bqpvw5RU/UkCHhMSCBkTBOggtPnT4Lr0AGcQvHKyV9E0pAOISO+5ERGhIleyng3vZX0PqI/VjoTFtRl3v/KMMdajKaf8aR8Oej5/vJWG+wB05mTPQvwTsAb1Z678i5xsQc6U9IaXojH+4i41s4X6u0GhbeNuji6Iv+dlyN7Tx3KPZoixxtGP69KLDGQfZVX46Kvxlz1R0ybFfskWOyT37zyZoftdQ/dfb9woWu60RH0m5OAMwtXhQw4lX6U+EziJdbvonbfOrT21WRnqSFc7d23HwxaH02YOEFxW2qH4AU1ZmelEf4wpDTrR2LEigKTeIcxIVVRmV+ZCU+nnav04mPx6JqAxTTkftDjaezLMOZBFMp7KffDhFsi4/i7Vy1PYkGa3ngFzlPqCi+FuOcLTnx8TO0KKvHmePvTaTN9nU1tctC+yUDG/tRqbI0b2Sgr/m8FiGGRzGG7gZ+/tB9u8sRrF0v4Op5LtF+zOIQc6VudrlYV0feNMjAXwTSDHMUOj9p90Jq5PpCrigUTgFrk2ww69KRuydV5+mcEdUiWpkJmpgnp7wW+yodn0obPeA7Xe5hXzGxmn2yeQedf0oR7k08lq74vebqI7vvKrJWhTabfugYtTgQ7xyRNKNBeT/TiqMtDTpm8x3vShwn0KzB9l2SXeSZQGS9m2BuDPrZZk8wwi2HiDsrA7Stpt8FCPPM+Zwjb+XbFv+592GRlJj40c7H+JyBvy2TJXWnwYmiGNspWFW90bv/DaEfu7JpisMa/oAqrMuxKgIggCSENA0YirIGIEipe8i34vQ4e61oaiW6XyxgnAuN+xOK0t8Lr46d7DLYHvtfDI9bDAtOuKgIWkTDkURolXQpJRHzRewFV8aVCOYd3oXjUgjgn+dAePbuaM1WZEm8WsMcKuAIswmKFBLkqxE6drqx5WrnhB/W//HNKZrP/AVdhp+dwIAAA&quot;"/>
    <we:property name="isFiltersActionButtonVisible" value="true"/>
    <we:property name="isFooterCollapsed" value="true"/>
    <we:property name="isVisualContainerHeaderHidden" value="false"/>
    <we:property name="pageDisplayName" value="&quot;Executive Overview&quot;"/>
    <we:property name="pageName" value="&quot;30bc288f175d9fd829df&quot;"/>
    <we:property name="reportEmbeddedTime" value="&quot;2026-07-16T21:44:58.710Z&quot;"/>
    <we:property name="reportName" value="&quot;Assignment&quot;"/>
    <we:property name="reportState" value="&quot;CONNECTED&quot;"/>
    <we:property name="reportUrl" value="&quot;/links/Z5hzbPhkQI?ctid=aa0fb800-7011-42c3-bffb-1f3a9e9b2ed9&amp;experience=power-bi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0BDE2A4-7BA2-40B9-8AC4-AC049354C4E3}">
  <we:reference id="wa200003233" version="2.0.0.3" store="en-US" storeType="OMEX"/>
  <we:alternateReferences>
    <we:reference id="WA200003233" version="2.0.0.3" store="WA200003233" storeType="OMEX"/>
  </we:alternateReferences>
  <we:properties>
    <we:property name="artifactViewState" value="&quot;live&quot;"/>
    <we:property name="backgroundColor" value="&quot;#FFFFFF&quot;"/>
    <we:property name="bookmark" value="&quot;H4sIAAAAAAAAA+1YbW8aMQz+Kyif0cS98HJ8K6yTJm1dB6j7MKEplxiaNlxuuRwrq/jvc5Kj7Vg72Chj0+BTzvbZjx879olbwkWRS7o4ozMgXdJT6npG9XUtIHWSeVmTsTiMm1EStpKQBsDCSQu1KjdCZQXp3hJD9RTMhShKKq0jFH4c1wmV8pxO7dOEygLqJAddqIxK8RW8MaqMLmFZJ3CTS6WpdTk01IB1O0dzfEYIwYsII1JmxByGwIyXAk8Yj2jEOpNOo02jSURjNCu8gUP2qIl17cL3VWaoyDCMlbEGC1gMYcyikDbTkEHErHwipKlM0sXpTa4xO8x5kVty+oh1qrRgVBKXhYbCg74lfSXLmTudficfqlIzGMDEqTIjzAI9pUi9yKYFWSId51ohWU5eAEXSnPRSfelrwIicdBvL+h2IEz6nGUPpOoK3+G6pYVcII2WorA1gDlkJjyAZo6TAF2VV1nuGRx4gk2WBHAL3lPQvqTa2hdIrrJVlFh0ozUH3Fo7cl0KvqhzW16DvKafleNVgaHT1oIWqCntgz1zS8dJqokbaCoGzdpAEYSfmLYBgY+MduuZ/uvt6D7WHgnKCIwkn2gpM7YLKDeQccD5svJW5mCszoqmEv+IuPqjwk5dxoL4U+7uICUuSMGUB0E6bMYjbPOQbL+JI5WfIn7exJhertYV0vdJq5oyr/VqU6ecScJisMzlcKfD8fnX4mafUuvghvzrxtW1YBocgkbrt6fIPzvcaTwY1n3LKrrH5CaoqDBMBkhMb6t2zNszTQB6b2lgA0m26AvrkQ3v/tqfpwyVYRI6ljAtTIXq9Rtcv9N22RDr07v496eGuYZb2N17uZ4aswTr0rD9unR23zr4RDSDHqLWB/VDf5XOwR/X//i24PhHcHOt0WDNtUx50YlxCzWbShvC4iHZYRMFxER0X0XERHRfR8yyi3xwn/9oicqPsng8yAz11OarSFGgK5zTzAyv3fgT4f91ucppx4NXZLaM3Aon2JfBtg1Pb/itIXBCsiqjGzzYvVPC+ASikeJy+FAAA&quot;"/>
    <we:property name="creatorSessionId" value="&quot;00c49f99-5ac8-47a3-8365-81d9d9d45c93&quot;"/>
    <we:property name="creatorTenantId" value="&quot;aa0fb800-7011-42c3-bffb-1f3a9e9b2ed9&quot;"/>
    <we:property name="creatorUserId" value="&quot;1003200245A7A7A9&quot;"/>
    <we:property name="datasetId" value="&quot;a85d4ca9-4c1a-43dc-be16-18b7333ed1bb&quot;"/>
    <we:property name="embedUrl" value="&quot;/reportEmbed?reportId=2713a51e-c6c1-464a-a8d5-bdef182f38cf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1YbW/aMBD+K8if0UQSKC/fgHXS1PVlgLoPE6oc+6BuTZw5Diur8t93tkPbsbZ0o4xNI5+S8+Xu8XPn56LcEi6yVNLFCZ0B6ZCeUtczqq8rAamSpLSdnh4ddwdHFyfd40M0q9QIlWSkc0sM1VMw5yLLqbQR0Ph5XCVUyjM6tU8TKjOokhR0phIqxTfwzrhkdA5FlcBNKpWmNuTQUAM27Bzd8RlzB28izEiZEXMYAjPeCrzNeEQj1pq0ak0aTSJaR7fMOzhkj7rY0C59XyWGigTTWBursYDVIayzKKSNOGQQMWufCGlKl3hxeJNq3B3ueZFaVvqIdaq0YFQStwsNmQd9S/pK5jN3d/iDfahyzWAAE7eUGGEWGClGzkUyzUiBdJxphWQ5ewYUSXPWS/W1rwEzctKpFdU7EF0+pwlD6yqCY3w317AphJEyVFYGMIckh0eQjNGS4YuyLOs9wyMPkMk8Qw6Be0r6l1Qb20LxFdbKMosBlOagewtH7luhl1UOqyvQt7SnYrxsMHS6etBCZYU9sFcu6biwK1EtPgiBs2bQDsJWnR8ABGsbb9c1/9Pd13u4uisoXZQkVLQlmMo5lWvI2aE+rD2VqZgrM6KxhL/iLD6o8JOHcaC+Zts7iG3WbocxC4C2moxBvclDvvYgjlR6gvx5H+tyvhxbSNc7rWbOuRysWR5/yQHFZJXJ4XIB7z8ub56LFNsQP+2vSnxta5bBIUik7uV0+QcXe4UngysXKWXX2PwEl0oMEwGSE5vq9FUb5mkgj6k2FoB0Gq6AfvOhPX8vp+nTJVhEjqWEC1Mier9C1y/03UuJdOjd+Xsywl3DFPYaF9vRkBVYu9b6/dTZcOpsG9EAUsxaGdgP9U0+B3tU/+/fgquK4HSs1WKNuEl50KrjEGo02k0I94Nog0EU7AfRfhDtB9F+EL3OIPpNOfnXBpGTsns+yAz01O1R5SZDVzijiRes1McR4P+63aQ04cDLezeMPggk2pfAtw2qtv0rSFwSrIoo5eeZF+y/wqX+4PUdHiTnCLYUAAA=&quot;"/>
    <we:property name="isFiltersActionButtonVisible" value="true"/>
    <we:property name="isFooterCollapsed" value="true"/>
    <we:property name="isVisualContainerHeaderHidden" value="false"/>
    <we:property name="pageDisplayName" value="&quot;Page 1&quot;"/>
    <we:property name="pageName" value="&quot;ed9cd3a3c8f807a3f3a4&quot;"/>
    <we:property name="reportEmbeddedTime" value="&quot;2026-07-16T15:06:04.040Z&quot;"/>
    <we:property name="reportName" value="&quot;Assignment&quot;"/>
    <we:property name="reportState" value="&quot;CONNECTED&quot;"/>
    <we:property name="reportUrl" value="&quot;/links/Z5hzbPhkQI?ctid=aa0fb800-7011-42c3-bffb-1f3a9e9b2ed9&amp;experience=power-bi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00D3A519-27FF-40D4-B26F-E1B5457732C4}">
  <we:reference id="wa200003233" version="2.0.0.3" store="en-US" storeType="OMEX"/>
  <we:alternateReferences>
    <we:reference id="WA200003233" version="2.0.0.3" store="WA200003233" storeType="OMEX"/>
  </we:alternateReferences>
  <we:properties>
    <we:property name="artifactViewState" value="&quot;live&quot;"/>
    <we:property name="backgroundColor" value="&quot;#FFFFFF&quot;"/>
    <we:property name="bookmark" value="&quot;H4sIAAAAAAAAA8VVTXPaMBD9K4zOTMeuMQZuwc2t7TDA5NJhOmtrTZQIySPJJDTDf+9KgqRN0o9pSznZ3l3vPr23z35gXNhWwu4jbJBN2FTr2w2Y217K+kzFWJFnPBsM8nQ0TgocJ9CMOWV164RWlk0emAOzRnclbAfSN6Lgp1WfgZQzWPunBqTFPmvRWK1Aii8YiynlTIf7PsP7VmoDvuXCgUPfdkvl9EwQ0jcZTYTaiS0usHYxypuaj/JiVI+SPMsxzzHLqczGgoDs1RLfOowvtXIgFI3xsYJDgcmgqrAa1Ena8AIDjEZIdyipdpf3raHT0Zl3rSfngm9B1egJoSMYtBHxA/uAYDsTGlx+l1joztQ4xyaklBNuR30qIl6otWV7ImNmNFEV4hdEAnHYm8Z87wpkh6HoWt+VBokqzibJvv+IqKTQWhtRg3wBqtSy26i/xVR21ukNmt7ST/wZllOzs9QO5JEb+wqUFUUs5eRh4Z60X0aEdWCkvAbj/E5XN7Q8Xmp6TxuOZroLar8T5rh2b/vPIJ9Y6f3quPlUfPPNbh+EjgBPo+xq7wt41qTVuK4Aq2SYZgDDZHh2Y0Tp57hF9QtDnH0J/6c3D/HP7tzWnGNLU3tz/y3/A1+2YqvdEiqJZ7blC3V/6Me5vrP/0IvPlPRWDG58IoORU9fhgLpztoUaZ6AwQGhjH4GhjgQGxT3z4d7463tB3o3Exy/NhIW/NAtDSAvhuf/NFw7wvgLbAxQBTggAAA==&quot;"/>
    <we:property name="creatorSessionId" value="&quot;37357015-f6cd-43dd-b9b9-f5d8efa6aa87&quot;"/>
    <we:property name="creatorTenantId" value="&quot;aa0fb800-7011-42c3-bffb-1f3a9e9b2ed9&quot;"/>
    <we:property name="creatorUserId" value="&quot;1003200245A7A7A9&quot;"/>
    <we:property name="datasetId" value="&quot;a85d4ca9-4c1a-43dc-be16-18b7333ed1bb&quot;"/>
    <we:property name="embedUrl" value="&quot;/reportEmbed?reportId=2713a51e-c6c1-464a-a8d5-bdef182f38cf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8VVTXPaMBD9K4zOno4pMVBu4HJKSRjD5NJhMmt5TZQIySPJJJThv3clQ9Kk+ZhpSznZXq133763z96yQthKwuYCVsgGbKT13QrMXavNIqb2scvL88kwO7++GE7GFNaVE1pZNtgyB2aJ7krYGqSvQMHvi4iBlFNY+qcSpMWIVWisViDFD2yS6ciZGncRw4dKagO+5MyBQ192Ten0TL3bnzrUEbgTa5whd020KHnRT3p93o+TToJJgp2E0myTEJC9muJLh/apVg6EojY+1iugh/FZnmN+xuN2WfQwwCiFdPuUfDN+qAxNRzNvKs/KsFiD4liwMIJB2yDesgmCrU0oMH52MNO14ZhhGY6UE25DdXJiXKilZTsiY2o0URXiQyKBOGyNmvPWFcgaQ9KNvk8NElUFG8S76BFRSqGlNoKD/A1UqmW9Un+LKa2t0ys0rbnv+B6WY7Mz1w7kgRv7CpQFRSydyf3CPWk/bxDywEh6A8b5nc5vaXm81PSeNgWa0Sao/VWYw9p9jl5APrLSu8Vh8yn59pfd3gvdADyOsoudTyg6ZTv/wnPAPO62OwDduHtyYzTSZ7hG9YEhTr6E/9Ob+/i1O7U1M6yoayvz3/I/8GUl1trNIZd4Yls+n+NNM2b63v5DI76Q0fswWPGJCUY2XYbpdO1sBRynoDBAqJo6AkMeqQuq8LSHe+Ov3wQZt2G9+cwMWPhFs9CEhBCe+Pdf8D9uFmAFdD8BMcr4YUMIAAA=&quot;"/>
    <we:property name="isFiltersActionButtonVisible" value="true"/>
    <we:property name="isFooterCollapsed" value="true"/>
    <we:property name="isVisualContainerHeaderHidden" value="false"/>
    <we:property name="pageDisplayName" value="&quot;Page 3&quot;"/>
    <we:property name="pageName" value="&quot;dfcd8578c80535e55e35&quot;"/>
    <we:property name="reportEmbeddedTime" value="&quot;2026-07-16T15:51:41.018Z&quot;"/>
    <we:property name="reportName" value="&quot;Assignment&quot;"/>
    <we:property name="reportState" value="&quot;CONNECTED&quot;"/>
    <we:property name="reportUrl" value="&quot;/links/Z5hzbPhkQI?ctid=aa0fb800-7011-42c3-bffb-1f3a9e9b2ed9&amp;experience=power-bi&quot;"/>
  </we:properties>
  <we:bindings/>
  <we:snapshot xmlns:r="http://schemas.openxmlformats.org/officeDocument/2006/relationships"/>
</we:webextension>
</file>

<file path=ppt/webextensions/webextension4.xml><?xml version="1.0" encoding="utf-8"?>
<we:webextension xmlns:we="http://schemas.microsoft.com/office/webextensions/webextension/2010/11" id="{069898C2-41DC-438F-898F-2B8153A840DB}">
  <we:reference id="wa200003233" version="2.0.0.3" store="en-US" storeType="OMEX"/>
  <we:alternateReferences>
    <we:reference id="WA200003233" version="2.0.0.3" store="WA200003233" storeType="OMEX"/>
  </we:alternateReferences>
  <we:properties>
    <we:property name="artifactViewState" value="&quot;live&quot;"/>
    <we:property name="backgroundColor" value="&quot;#FFFFFF&quot;"/>
    <we:property name="bookmark" value="&quot;H4sIAAAAAAAAA+VVTY/aMBD9K8jnqCIkbAK3QvfWVgjQXipUTZwJeNfYlu2wSxH/vWOH/ehq1a1UIVT1FGfmeeb5zYx9YLVwRsL+K2yRjdlE67st2LteyhKmOhs0yItBUacjDlhkaV0BklcbL7RybHxgHuwa/Y1wLcgQiIzfVgkDKWewDn8NSIcJM2idViDFD+zA5PK2xWPC8MFIbSGEXHjwGMLuCE7/RCH9kFFG4F7scIHcd9arQd6vR5DVeVHA1aDMoCwJ5jpAZPYmJISO6adaeRCK0kRsM2yy0ShPy6bMa84xq3iwN0L6E6TaXz8YS6ejM+9NEGdKXNfaCg6SxVNYdB3pA5tq2W7j6voX+0K3luMcm+hSXvg9RapIeqHWjh1JjpnVJFa08w0ohfL72urWROdG308tUuKajfvH5InLx3oHipP1NZEvCK61+LdMltqD7E1eei9LZY47VC2+wWRFFkcb5anRnmu+7AhWYKcbsD40cnVLHRPqS5u0rdFO9rHEn4R97LVB8oruuSQ9rh77nFC3Lzr51Ggds/N01uoYAIOmGJbA07xJs6zPIYd0+O4YXLre/+UQzNFQ1t48XJe/43H5O+rdcTRip/0SKon/zEDO9b078zDGeXxWg22R3tmw0K13BjjOQGHkYLpAAiOOSgyqDtLHtQ3fz4Kmt1P+BmQbRI+vMotJqBgiiP+HG070fgIAX2fOPggAAA==&quot;"/>
    <we:property name="creatorSessionId" value="&quot;ed8b6a3f-ec09-4dc2-ad9c-dec7575b305a&quot;"/>
    <we:property name="creatorTenantId" value="&quot;aa0fb800-7011-42c3-bffb-1f3a9e9b2ed9&quot;"/>
    <we:property name="creatorUserId" value="&quot;1003200245A7A7A9&quot;"/>
    <we:property name="datasetId" value="&quot;a85d4ca9-4c1a-43dc-be16-18b7333ed1bb&quot;"/>
    <we:property name="embedUrl" value="&quot;/reportEmbed?reportId=2713a51e-c6c1-464a-a8d5-bdef182f38cf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VVTW/iMBD9K8jnaEVIKKE3YDl1aRGgXlaomjgTcGvsyHZoWcR/37FDP7aq2sMKodWe4sw8zzy/mbH3rBC2krC7hg2ySzbU+mED5qEVs4ipo+3m5moymF3dXQ8mYzLrygmtLLvcMwdmhe5W2Bqkj0DGn8uIgZRTWPm/EqTFiFVorFYgxS9swORypsZDxPCpktqADzl34NCH3RKc/il3/C2hjMCd2OIcuWusF520XfQhKdJeDy46WQJZRjDbAAKzDyE+dEg/0sqBUJQmYMtumfT7aZyVWVpwjknOvb0U0h0h+W78VBk6HZ15V3lVRsR1pY3gIFk4hUHbkN6zkZb1JqzGf9jnujYcZ1gGl3LC7ShSTpoLtbLsQHJMjSaxgp2vQSmUdyuj6yo41/pxZJASF+yyfYheuAyKLShO1vdEJgi2Nvi3TBbagWwN33rPS2WGW1Q1fsBkSRZLG+Wx0V5rvmgI5mBGazDON3J+Tx3j60ubtCnQDHehxN+Fee61TvSO7qkkPSyf+5xQ9286+dhoDbPTdNby4AGdstfNgMdpGSdJm0MKcffLMTh3vf/LIZhhRVlbM39dfsbj/HfUl+NYia12C8gl/jMDOdOP9sTDGObxVQ22QXpn/ULXzlbAcQoKA4eqCSQw4KjEoAovfVgb//0haHob5W9B1l708CqzkISKIbz4n2/wbzULtAK73wvAa1E2CAAA&quot;"/>
    <we:property name="isFiltersActionButtonVisible" value="true"/>
    <we:property name="isFooterCollapsed" value="true"/>
    <we:property name="isVisualContainerHeaderHidden" value="false"/>
    <we:property name="pageDisplayName" value="&quot;Page 4&quot;"/>
    <we:property name="pageName" value="&quot;6240d9a3d477a6283a88&quot;"/>
    <we:property name="reportEmbeddedTime" value="&quot;2026-07-16T16:18:00.982Z&quot;"/>
    <we:property name="reportName" value="&quot;Assignment&quot;"/>
    <we:property name="reportState" value="&quot;CONNECTED&quot;"/>
    <we:property name="reportUrl" value="&quot;/links/Z5hzbPhkQI?ctid=aa0fb800-7011-42c3-bffb-1f3a9e9b2ed9&amp;experience=power-bi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650</TotalTime>
  <Words>552</Words>
  <Application>Microsoft Office PowerPoint</Application>
  <PresentationFormat>Widescreen</PresentationFormat>
  <Paragraphs>66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 Light</vt:lpstr>
      <vt:lpstr>Dreaming Outloud Script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Solomon Gyamfi</dc:creator>
  <cp:lastModifiedBy>Solomon Gyamfi</cp:lastModifiedBy>
  <cp:revision>13</cp:revision>
  <dcterms:created xsi:type="dcterms:W3CDTF">2026-07-16T12:30:31Z</dcterms:created>
  <dcterms:modified xsi:type="dcterms:W3CDTF">2026-07-17T15:34:51Z</dcterms:modified>
</cp:coreProperties>
</file>